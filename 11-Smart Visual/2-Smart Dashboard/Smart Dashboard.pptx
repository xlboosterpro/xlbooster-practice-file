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BFF930-4D5C-4918-A34B-6EBFD7BCB228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13F8421-68EE-4EA6-91C4-99E02F03CA35}">
      <dgm:prSet/>
      <dgm:spPr/>
      <dgm:t>
        <a:bodyPr/>
        <a:lstStyle/>
        <a:p>
          <a:pPr>
            <a:defRPr cap="all"/>
          </a:pPr>
          <a:r>
            <a:rPr lang="en-US" b="1"/>
            <a:t>Select:</a:t>
          </a:r>
          <a:r>
            <a:rPr lang="en-US"/>
            <a:t> Click "Select Files" and pick your JSON charts.</a:t>
          </a:r>
        </a:p>
      </dgm:t>
    </dgm:pt>
    <dgm:pt modelId="{042C4628-87E9-4129-9BA7-318B8985D4D3}" type="parTrans" cxnId="{B3A97C88-55E9-4920-8CA5-96FAF52DBE6F}">
      <dgm:prSet/>
      <dgm:spPr/>
      <dgm:t>
        <a:bodyPr/>
        <a:lstStyle/>
        <a:p>
          <a:endParaRPr lang="en-US"/>
        </a:p>
      </dgm:t>
    </dgm:pt>
    <dgm:pt modelId="{995EF062-1A84-45DB-B1E7-7F500EF5B883}" type="sibTrans" cxnId="{B3A97C88-55E9-4920-8CA5-96FAF52DBE6F}">
      <dgm:prSet/>
      <dgm:spPr/>
      <dgm:t>
        <a:bodyPr/>
        <a:lstStyle/>
        <a:p>
          <a:endParaRPr lang="en-US"/>
        </a:p>
      </dgm:t>
    </dgm:pt>
    <dgm:pt modelId="{197CBEC3-BB94-4B51-A048-D67178D1ABE1}">
      <dgm:prSet/>
      <dgm:spPr/>
      <dgm:t>
        <a:bodyPr/>
        <a:lstStyle/>
        <a:p>
          <a:pPr>
            <a:defRPr cap="all"/>
          </a:pPr>
          <a:r>
            <a:rPr lang="en-US" b="1"/>
            <a:t>Order:</a:t>
          </a:r>
          <a:r>
            <a:rPr lang="en-US"/>
            <a:t> Use "Move Up/Down" to arrange the narrative (e.g., Sales first, then HR).</a:t>
          </a:r>
        </a:p>
      </dgm:t>
    </dgm:pt>
    <dgm:pt modelId="{0FF8F51B-5065-4C21-BE43-DD48C67C8379}" type="parTrans" cxnId="{0674530C-2A67-4E5A-B9E0-C96B5D8ADAFB}">
      <dgm:prSet/>
      <dgm:spPr/>
      <dgm:t>
        <a:bodyPr/>
        <a:lstStyle/>
        <a:p>
          <a:endParaRPr lang="en-US"/>
        </a:p>
      </dgm:t>
    </dgm:pt>
    <dgm:pt modelId="{4AF39180-229C-4CB7-B9CE-45B612E2A465}" type="sibTrans" cxnId="{0674530C-2A67-4E5A-B9E0-C96B5D8ADAFB}">
      <dgm:prSet/>
      <dgm:spPr/>
      <dgm:t>
        <a:bodyPr/>
        <a:lstStyle/>
        <a:p>
          <a:endParaRPr lang="en-US"/>
        </a:p>
      </dgm:t>
    </dgm:pt>
    <dgm:pt modelId="{673D8E6E-05FB-4D31-AFDD-8FC7026B8F1A}">
      <dgm:prSet/>
      <dgm:spPr/>
      <dgm:t>
        <a:bodyPr/>
        <a:lstStyle/>
        <a:p>
          <a:pPr>
            <a:defRPr cap="all"/>
          </a:pPr>
          <a:r>
            <a:rPr lang="en-US" b="1"/>
            <a:t>Style:</a:t>
          </a:r>
          <a:r>
            <a:rPr lang="en-US"/>
            <a:t> Select "Dark Mode" and uncheck "Single Page" for a grid view.</a:t>
          </a:r>
        </a:p>
      </dgm:t>
    </dgm:pt>
    <dgm:pt modelId="{867BE1A3-AD3A-426A-B895-986E5EF5B91E}" type="parTrans" cxnId="{18E98E55-A174-48B9-B25F-FA25DA5A70C6}">
      <dgm:prSet/>
      <dgm:spPr/>
      <dgm:t>
        <a:bodyPr/>
        <a:lstStyle/>
        <a:p>
          <a:endParaRPr lang="en-US"/>
        </a:p>
      </dgm:t>
    </dgm:pt>
    <dgm:pt modelId="{24037C27-22C3-49A8-B3A8-5F69CA6F29F1}" type="sibTrans" cxnId="{18E98E55-A174-48B9-B25F-FA25DA5A70C6}">
      <dgm:prSet/>
      <dgm:spPr/>
      <dgm:t>
        <a:bodyPr/>
        <a:lstStyle/>
        <a:p>
          <a:endParaRPr lang="en-US"/>
        </a:p>
      </dgm:t>
    </dgm:pt>
    <dgm:pt modelId="{0B554082-6D56-47BC-B486-4521C898F1AD}">
      <dgm:prSet/>
      <dgm:spPr/>
      <dgm:t>
        <a:bodyPr/>
        <a:lstStyle/>
        <a:p>
          <a:pPr>
            <a:defRPr cap="all"/>
          </a:pPr>
          <a:r>
            <a:rPr lang="en-US" b="1"/>
            <a:t>Generate:</a:t>
          </a:r>
          <a:r>
            <a:rPr lang="en-US"/>
            <a:t> Click "Create Dashboard". The HTML opens instantly.</a:t>
          </a:r>
        </a:p>
      </dgm:t>
    </dgm:pt>
    <dgm:pt modelId="{9467BA56-62A5-4130-8B5C-F4CC479ED001}" type="parTrans" cxnId="{1444D730-FD91-42E7-B67F-65E0DE086B9E}">
      <dgm:prSet/>
      <dgm:spPr/>
      <dgm:t>
        <a:bodyPr/>
        <a:lstStyle/>
        <a:p>
          <a:endParaRPr lang="en-US"/>
        </a:p>
      </dgm:t>
    </dgm:pt>
    <dgm:pt modelId="{4514D732-94A2-46C0-A393-0AEC104EC676}" type="sibTrans" cxnId="{1444D730-FD91-42E7-B67F-65E0DE086B9E}">
      <dgm:prSet/>
      <dgm:spPr/>
      <dgm:t>
        <a:bodyPr/>
        <a:lstStyle/>
        <a:p>
          <a:endParaRPr lang="en-US"/>
        </a:p>
      </dgm:t>
    </dgm:pt>
    <dgm:pt modelId="{8111B702-0846-40C6-A406-AE9A4772A1A3}" type="pres">
      <dgm:prSet presAssocID="{9DBFF930-4D5C-4918-A34B-6EBFD7BCB228}" presName="root" presStyleCnt="0">
        <dgm:presLayoutVars>
          <dgm:dir/>
          <dgm:resizeHandles val="exact"/>
        </dgm:presLayoutVars>
      </dgm:prSet>
      <dgm:spPr/>
    </dgm:pt>
    <dgm:pt modelId="{B05FA527-70AC-49A9-8768-781D715BE1AB}" type="pres">
      <dgm:prSet presAssocID="{D13F8421-68EE-4EA6-91C4-99E02F03CA35}" presName="compNode" presStyleCnt="0"/>
      <dgm:spPr/>
    </dgm:pt>
    <dgm:pt modelId="{CD64119D-3E6A-4E09-A459-C2E27BA894A7}" type="pres">
      <dgm:prSet presAssocID="{D13F8421-68EE-4EA6-91C4-99E02F03CA35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EF5872C-AF06-445C-975D-68DF25B25C6F}" type="pres">
      <dgm:prSet presAssocID="{D13F8421-68EE-4EA6-91C4-99E02F03CA3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B4D61890-8C2A-428D-8F5F-FF829C0DBFC3}" type="pres">
      <dgm:prSet presAssocID="{D13F8421-68EE-4EA6-91C4-99E02F03CA35}" presName="spaceRect" presStyleCnt="0"/>
      <dgm:spPr/>
    </dgm:pt>
    <dgm:pt modelId="{07DF8220-4930-4DCE-A603-F474FEB81984}" type="pres">
      <dgm:prSet presAssocID="{D13F8421-68EE-4EA6-91C4-99E02F03CA35}" presName="textRect" presStyleLbl="revTx" presStyleIdx="0" presStyleCnt="4">
        <dgm:presLayoutVars>
          <dgm:chMax val="1"/>
          <dgm:chPref val="1"/>
        </dgm:presLayoutVars>
      </dgm:prSet>
      <dgm:spPr/>
    </dgm:pt>
    <dgm:pt modelId="{C33DB9D9-C229-481F-989C-E7081B4B5F20}" type="pres">
      <dgm:prSet presAssocID="{995EF062-1A84-45DB-B1E7-7F500EF5B883}" presName="sibTrans" presStyleCnt="0"/>
      <dgm:spPr/>
    </dgm:pt>
    <dgm:pt modelId="{889D0043-7A5E-474A-B938-2614247C3B8A}" type="pres">
      <dgm:prSet presAssocID="{197CBEC3-BB94-4B51-A048-D67178D1ABE1}" presName="compNode" presStyleCnt="0"/>
      <dgm:spPr/>
    </dgm:pt>
    <dgm:pt modelId="{64715CB2-78EB-4B9F-8785-475FFE6310BD}" type="pres">
      <dgm:prSet presAssocID="{197CBEC3-BB94-4B51-A048-D67178D1ABE1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F3E8CFE-18B7-4C5B-A0FE-B2849DE0FD9B}" type="pres">
      <dgm:prSet presAssocID="{197CBEC3-BB94-4B51-A048-D67178D1ABE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DDAC3456-574D-4A71-B528-4FF63B4C0D4D}" type="pres">
      <dgm:prSet presAssocID="{197CBEC3-BB94-4B51-A048-D67178D1ABE1}" presName="spaceRect" presStyleCnt="0"/>
      <dgm:spPr/>
    </dgm:pt>
    <dgm:pt modelId="{F712C1CC-AFC5-4B17-BC5A-6D0E391DD3F2}" type="pres">
      <dgm:prSet presAssocID="{197CBEC3-BB94-4B51-A048-D67178D1ABE1}" presName="textRect" presStyleLbl="revTx" presStyleIdx="1" presStyleCnt="4">
        <dgm:presLayoutVars>
          <dgm:chMax val="1"/>
          <dgm:chPref val="1"/>
        </dgm:presLayoutVars>
      </dgm:prSet>
      <dgm:spPr/>
    </dgm:pt>
    <dgm:pt modelId="{8225038D-2C9D-406D-A4EE-5D0216B1AAED}" type="pres">
      <dgm:prSet presAssocID="{4AF39180-229C-4CB7-B9CE-45B612E2A465}" presName="sibTrans" presStyleCnt="0"/>
      <dgm:spPr/>
    </dgm:pt>
    <dgm:pt modelId="{18F5DA5F-8AE6-4616-A4FE-DA2453584BE3}" type="pres">
      <dgm:prSet presAssocID="{673D8E6E-05FB-4D31-AFDD-8FC7026B8F1A}" presName="compNode" presStyleCnt="0"/>
      <dgm:spPr/>
    </dgm:pt>
    <dgm:pt modelId="{8E56F648-186E-4FE3-AA62-809F0990E7F5}" type="pres">
      <dgm:prSet presAssocID="{673D8E6E-05FB-4D31-AFDD-8FC7026B8F1A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0140114-F6FE-4FC0-B834-E178C194EC3A}" type="pres">
      <dgm:prSet presAssocID="{673D8E6E-05FB-4D31-AFDD-8FC7026B8F1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00CD2AFC-38E8-4415-B541-A99C6483ABB1}" type="pres">
      <dgm:prSet presAssocID="{673D8E6E-05FB-4D31-AFDD-8FC7026B8F1A}" presName="spaceRect" presStyleCnt="0"/>
      <dgm:spPr/>
    </dgm:pt>
    <dgm:pt modelId="{1E571C2B-9C6D-4AE7-A2C3-D989D30EC58E}" type="pres">
      <dgm:prSet presAssocID="{673D8E6E-05FB-4D31-AFDD-8FC7026B8F1A}" presName="textRect" presStyleLbl="revTx" presStyleIdx="2" presStyleCnt="4">
        <dgm:presLayoutVars>
          <dgm:chMax val="1"/>
          <dgm:chPref val="1"/>
        </dgm:presLayoutVars>
      </dgm:prSet>
      <dgm:spPr/>
    </dgm:pt>
    <dgm:pt modelId="{151149E2-CCB7-4CDC-8D7E-3FF8944035D6}" type="pres">
      <dgm:prSet presAssocID="{24037C27-22C3-49A8-B3A8-5F69CA6F29F1}" presName="sibTrans" presStyleCnt="0"/>
      <dgm:spPr/>
    </dgm:pt>
    <dgm:pt modelId="{B69B008A-03CA-4965-BF30-075CCE650649}" type="pres">
      <dgm:prSet presAssocID="{0B554082-6D56-47BC-B486-4521C898F1AD}" presName="compNode" presStyleCnt="0"/>
      <dgm:spPr/>
    </dgm:pt>
    <dgm:pt modelId="{89995C7E-CDA0-4AFA-B92B-9C83C976E7C6}" type="pres">
      <dgm:prSet presAssocID="{0B554082-6D56-47BC-B486-4521C898F1AD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5976751-11DC-4919-BDF0-8895ECEF0735}" type="pres">
      <dgm:prSet presAssocID="{0B554082-6D56-47BC-B486-4521C898F1A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74262D8-138C-4207-A0EC-3FD18283A8F4}" type="pres">
      <dgm:prSet presAssocID="{0B554082-6D56-47BC-B486-4521C898F1AD}" presName="spaceRect" presStyleCnt="0"/>
      <dgm:spPr/>
    </dgm:pt>
    <dgm:pt modelId="{75068D21-4B36-496A-9E0D-9BFE795E0827}" type="pres">
      <dgm:prSet presAssocID="{0B554082-6D56-47BC-B486-4521C898F1A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674530C-2A67-4E5A-B9E0-C96B5D8ADAFB}" srcId="{9DBFF930-4D5C-4918-A34B-6EBFD7BCB228}" destId="{197CBEC3-BB94-4B51-A048-D67178D1ABE1}" srcOrd="1" destOrd="0" parTransId="{0FF8F51B-5065-4C21-BE43-DD48C67C8379}" sibTransId="{4AF39180-229C-4CB7-B9CE-45B612E2A465}"/>
    <dgm:cxn modelId="{D54CE90C-46E9-410A-B8AA-85D4177575B3}" type="presOf" srcId="{0B554082-6D56-47BC-B486-4521C898F1AD}" destId="{75068D21-4B36-496A-9E0D-9BFE795E0827}" srcOrd="0" destOrd="0" presId="urn:microsoft.com/office/officeart/2018/5/layout/IconLeafLabelList"/>
    <dgm:cxn modelId="{0F81F719-1770-46B3-B0FD-B856DA7628C6}" type="presOf" srcId="{9DBFF930-4D5C-4918-A34B-6EBFD7BCB228}" destId="{8111B702-0846-40C6-A406-AE9A4772A1A3}" srcOrd="0" destOrd="0" presId="urn:microsoft.com/office/officeart/2018/5/layout/IconLeafLabelList"/>
    <dgm:cxn modelId="{6DAE352B-C028-44BE-ACBE-515F1CAD4B4A}" type="presOf" srcId="{D13F8421-68EE-4EA6-91C4-99E02F03CA35}" destId="{07DF8220-4930-4DCE-A603-F474FEB81984}" srcOrd="0" destOrd="0" presId="urn:microsoft.com/office/officeart/2018/5/layout/IconLeafLabelList"/>
    <dgm:cxn modelId="{1444D730-FD91-42E7-B67F-65E0DE086B9E}" srcId="{9DBFF930-4D5C-4918-A34B-6EBFD7BCB228}" destId="{0B554082-6D56-47BC-B486-4521C898F1AD}" srcOrd="3" destOrd="0" parTransId="{9467BA56-62A5-4130-8B5C-F4CC479ED001}" sibTransId="{4514D732-94A2-46C0-A393-0AEC104EC676}"/>
    <dgm:cxn modelId="{18E98E55-A174-48B9-B25F-FA25DA5A70C6}" srcId="{9DBFF930-4D5C-4918-A34B-6EBFD7BCB228}" destId="{673D8E6E-05FB-4D31-AFDD-8FC7026B8F1A}" srcOrd="2" destOrd="0" parTransId="{867BE1A3-AD3A-426A-B895-986E5EF5B91E}" sibTransId="{24037C27-22C3-49A8-B3A8-5F69CA6F29F1}"/>
    <dgm:cxn modelId="{B3A97C88-55E9-4920-8CA5-96FAF52DBE6F}" srcId="{9DBFF930-4D5C-4918-A34B-6EBFD7BCB228}" destId="{D13F8421-68EE-4EA6-91C4-99E02F03CA35}" srcOrd="0" destOrd="0" parTransId="{042C4628-87E9-4129-9BA7-318B8985D4D3}" sibTransId="{995EF062-1A84-45DB-B1E7-7F500EF5B883}"/>
    <dgm:cxn modelId="{4175B0F7-4FED-4233-B0F0-7FFBB0305745}" type="presOf" srcId="{197CBEC3-BB94-4B51-A048-D67178D1ABE1}" destId="{F712C1CC-AFC5-4B17-BC5A-6D0E391DD3F2}" srcOrd="0" destOrd="0" presId="urn:microsoft.com/office/officeart/2018/5/layout/IconLeafLabelList"/>
    <dgm:cxn modelId="{A00042F9-BBB7-4EF6-9CE6-690D291F26AD}" type="presOf" srcId="{673D8E6E-05FB-4D31-AFDD-8FC7026B8F1A}" destId="{1E571C2B-9C6D-4AE7-A2C3-D989D30EC58E}" srcOrd="0" destOrd="0" presId="urn:microsoft.com/office/officeart/2018/5/layout/IconLeafLabelList"/>
    <dgm:cxn modelId="{99859649-B2EE-45BE-83EE-C62B9D8C35CF}" type="presParOf" srcId="{8111B702-0846-40C6-A406-AE9A4772A1A3}" destId="{B05FA527-70AC-49A9-8768-781D715BE1AB}" srcOrd="0" destOrd="0" presId="urn:microsoft.com/office/officeart/2018/5/layout/IconLeafLabelList"/>
    <dgm:cxn modelId="{E779D916-4D52-4C1D-B442-6EF3A8C28B9E}" type="presParOf" srcId="{B05FA527-70AC-49A9-8768-781D715BE1AB}" destId="{CD64119D-3E6A-4E09-A459-C2E27BA894A7}" srcOrd="0" destOrd="0" presId="urn:microsoft.com/office/officeart/2018/5/layout/IconLeafLabelList"/>
    <dgm:cxn modelId="{3BD3650B-8C15-4CD6-8FF0-C94E53D4291F}" type="presParOf" srcId="{B05FA527-70AC-49A9-8768-781D715BE1AB}" destId="{7EF5872C-AF06-445C-975D-68DF25B25C6F}" srcOrd="1" destOrd="0" presId="urn:microsoft.com/office/officeart/2018/5/layout/IconLeafLabelList"/>
    <dgm:cxn modelId="{A5CE87C8-252C-44C4-B8BA-2DFD417AE4AC}" type="presParOf" srcId="{B05FA527-70AC-49A9-8768-781D715BE1AB}" destId="{B4D61890-8C2A-428D-8F5F-FF829C0DBFC3}" srcOrd="2" destOrd="0" presId="urn:microsoft.com/office/officeart/2018/5/layout/IconLeafLabelList"/>
    <dgm:cxn modelId="{2EA4E9B0-AC8D-4905-84E6-E47375275091}" type="presParOf" srcId="{B05FA527-70AC-49A9-8768-781D715BE1AB}" destId="{07DF8220-4930-4DCE-A603-F474FEB81984}" srcOrd="3" destOrd="0" presId="urn:microsoft.com/office/officeart/2018/5/layout/IconLeafLabelList"/>
    <dgm:cxn modelId="{3CC799F5-16BB-48AC-853C-1EF8C5936F0D}" type="presParOf" srcId="{8111B702-0846-40C6-A406-AE9A4772A1A3}" destId="{C33DB9D9-C229-481F-989C-E7081B4B5F20}" srcOrd="1" destOrd="0" presId="urn:microsoft.com/office/officeart/2018/5/layout/IconLeafLabelList"/>
    <dgm:cxn modelId="{4C948988-11AD-4953-91F4-B859934456A8}" type="presParOf" srcId="{8111B702-0846-40C6-A406-AE9A4772A1A3}" destId="{889D0043-7A5E-474A-B938-2614247C3B8A}" srcOrd="2" destOrd="0" presId="urn:microsoft.com/office/officeart/2018/5/layout/IconLeafLabelList"/>
    <dgm:cxn modelId="{7C38CE2F-A01F-4484-B284-67DD5CA2385A}" type="presParOf" srcId="{889D0043-7A5E-474A-B938-2614247C3B8A}" destId="{64715CB2-78EB-4B9F-8785-475FFE6310BD}" srcOrd="0" destOrd="0" presId="urn:microsoft.com/office/officeart/2018/5/layout/IconLeafLabelList"/>
    <dgm:cxn modelId="{78A8D32D-BF52-47B1-B002-E3130BCD4898}" type="presParOf" srcId="{889D0043-7A5E-474A-B938-2614247C3B8A}" destId="{EF3E8CFE-18B7-4C5B-A0FE-B2849DE0FD9B}" srcOrd="1" destOrd="0" presId="urn:microsoft.com/office/officeart/2018/5/layout/IconLeafLabelList"/>
    <dgm:cxn modelId="{8E3B6E9E-1B78-4A5D-B441-F1DD5FBEAF3F}" type="presParOf" srcId="{889D0043-7A5E-474A-B938-2614247C3B8A}" destId="{DDAC3456-574D-4A71-B528-4FF63B4C0D4D}" srcOrd="2" destOrd="0" presId="urn:microsoft.com/office/officeart/2018/5/layout/IconLeafLabelList"/>
    <dgm:cxn modelId="{084BAC66-350C-47BB-ACE9-05098BB182BC}" type="presParOf" srcId="{889D0043-7A5E-474A-B938-2614247C3B8A}" destId="{F712C1CC-AFC5-4B17-BC5A-6D0E391DD3F2}" srcOrd="3" destOrd="0" presId="urn:microsoft.com/office/officeart/2018/5/layout/IconLeafLabelList"/>
    <dgm:cxn modelId="{0B5FFE31-24AC-4298-AE93-9A25DAFD26DF}" type="presParOf" srcId="{8111B702-0846-40C6-A406-AE9A4772A1A3}" destId="{8225038D-2C9D-406D-A4EE-5D0216B1AAED}" srcOrd="3" destOrd="0" presId="urn:microsoft.com/office/officeart/2018/5/layout/IconLeafLabelList"/>
    <dgm:cxn modelId="{09B08D3D-72D6-4876-A363-A164C5962C98}" type="presParOf" srcId="{8111B702-0846-40C6-A406-AE9A4772A1A3}" destId="{18F5DA5F-8AE6-4616-A4FE-DA2453584BE3}" srcOrd="4" destOrd="0" presId="urn:microsoft.com/office/officeart/2018/5/layout/IconLeafLabelList"/>
    <dgm:cxn modelId="{44F20051-5B39-4547-BAFA-549D71BAF422}" type="presParOf" srcId="{18F5DA5F-8AE6-4616-A4FE-DA2453584BE3}" destId="{8E56F648-186E-4FE3-AA62-809F0990E7F5}" srcOrd="0" destOrd="0" presId="urn:microsoft.com/office/officeart/2018/5/layout/IconLeafLabelList"/>
    <dgm:cxn modelId="{E2E68377-1CE1-4F20-A25C-88A6037477D5}" type="presParOf" srcId="{18F5DA5F-8AE6-4616-A4FE-DA2453584BE3}" destId="{B0140114-F6FE-4FC0-B834-E178C194EC3A}" srcOrd="1" destOrd="0" presId="urn:microsoft.com/office/officeart/2018/5/layout/IconLeafLabelList"/>
    <dgm:cxn modelId="{3E57B513-DAE2-4E32-80B3-E15F8C5E6206}" type="presParOf" srcId="{18F5DA5F-8AE6-4616-A4FE-DA2453584BE3}" destId="{00CD2AFC-38E8-4415-B541-A99C6483ABB1}" srcOrd="2" destOrd="0" presId="urn:microsoft.com/office/officeart/2018/5/layout/IconLeafLabelList"/>
    <dgm:cxn modelId="{8BA79221-67D9-4450-B99C-1DC1EAB2568B}" type="presParOf" srcId="{18F5DA5F-8AE6-4616-A4FE-DA2453584BE3}" destId="{1E571C2B-9C6D-4AE7-A2C3-D989D30EC58E}" srcOrd="3" destOrd="0" presId="urn:microsoft.com/office/officeart/2018/5/layout/IconLeafLabelList"/>
    <dgm:cxn modelId="{74615D27-0B7A-44AD-A846-5F0FCE205435}" type="presParOf" srcId="{8111B702-0846-40C6-A406-AE9A4772A1A3}" destId="{151149E2-CCB7-4CDC-8D7E-3FF8944035D6}" srcOrd="5" destOrd="0" presId="urn:microsoft.com/office/officeart/2018/5/layout/IconLeafLabelList"/>
    <dgm:cxn modelId="{78D93CD8-EA9D-4196-881C-B7FDECB1CED8}" type="presParOf" srcId="{8111B702-0846-40C6-A406-AE9A4772A1A3}" destId="{B69B008A-03CA-4965-BF30-075CCE650649}" srcOrd="6" destOrd="0" presId="urn:microsoft.com/office/officeart/2018/5/layout/IconLeafLabelList"/>
    <dgm:cxn modelId="{76E69A1B-4D5E-49CD-B2F8-5FE014221103}" type="presParOf" srcId="{B69B008A-03CA-4965-BF30-075CCE650649}" destId="{89995C7E-CDA0-4AFA-B92B-9C83C976E7C6}" srcOrd="0" destOrd="0" presId="urn:microsoft.com/office/officeart/2018/5/layout/IconLeafLabelList"/>
    <dgm:cxn modelId="{41A6DC34-A155-4862-9A50-339E67EDC5C7}" type="presParOf" srcId="{B69B008A-03CA-4965-BF30-075CCE650649}" destId="{C5976751-11DC-4919-BDF0-8895ECEF0735}" srcOrd="1" destOrd="0" presId="urn:microsoft.com/office/officeart/2018/5/layout/IconLeafLabelList"/>
    <dgm:cxn modelId="{5873F6B7-2FCD-4DAF-BAF9-F25E5CE94435}" type="presParOf" srcId="{B69B008A-03CA-4965-BF30-075CCE650649}" destId="{574262D8-138C-4207-A0EC-3FD18283A8F4}" srcOrd="2" destOrd="0" presId="urn:microsoft.com/office/officeart/2018/5/layout/IconLeafLabelList"/>
    <dgm:cxn modelId="{E3C4C03D-0463-40E3-9345-C2B877A518FF}" type="presParOf" srcId="{B69B008A-03CA-4965-BF30-075CCE650649}" destId="{75068D21-4B36-496A-9E0D-9BFE795E082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64119D-3E6A-4E09-A459-C2E27BA894A7}">
      <dsp:nvSpPr>
        <dsp:cNvPr id="0" name=""/>
        <dsp:cNvSpPr/>
      </dsp:nvSpPr>
      <dsp:spPr>
        <a:xfrm>
          <a:off x="973190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F5872C-AF06-445C-975D-68DF25B25C6F}">
      <dsp:nvSpPr>
        <dsp:cNvPr id="0" name=""/>
        <dsp:cNvSpPr/>
      </dsp:nvSpPr>
      <dsp:spPr>
        <a:xfrm>
          <a:off x="1242597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DF8220-4930-4DCE-A603-F474FEB81984}">
      <dsp:nvSpPr>
        <dsp:cNvPr id="0" name=""/>
        <dsp:cNvSpPr/>
      </dsp:nvSpPr>
      <dsp:spPr>
        <a:xfrm>
          <a:off x="569079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/>
            <a:t>Select:</a:t>
          </a:r>
          <a:r>
            <a:rPr lang="en-US" sz="1200" kern="1200"/>
            <a:t> Click "Select Files" and pick your JSON charts.</a:t>
          </a:r>
        </a:p>
      </dsp:txBody>
      <dsp:txXfrm>
        <a:off x="569079" y="2644614"/>
        <a:ext cx="2072362" cy="720000"/>
      </dsp:txXfrm>
    </dsp:sp>
    <dsp:sp modelId="{64715CB2-78EB-4B9F-8785-475FFE6310BD}">
      <dsp:nvSpPr>
        <dsp:cNvPr id="0" name=""/>
        <dsp:cNvSpPr/>
      </dsp:nvSpPr>
      <dsp:spPr>
        <a:xfrm>
          <a:off x="3408216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3E8CFE-18B7-4C5B-A0FE-B2849DE0FD9B}">
      <dsp:nvSpPr>
        <dsp:cNvPr id="0" name=""/>
        <dsp:cNvSpPr/>
      </dsp:nvSpPr>
      <dsp:spPr>
        <a:xfrm>
          <a:off x="3677623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12C1CC-AFC5-4B17-BC5A-6D0E391DD3F2}">
      <dsp:nvSpPr>
        <dsp:cNvPr id="0" name=""/>
        <dsp:cNvSpPr/>
      </dsp:nvSpPr>
      <dsp:spPr>
        <a:xfrm>
          <a:off x="3004105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/>
            <a:t>Order:</a:t>
          </a:r>
          <a:r>
            <a:rPr lang="en-US" sz="1200" kern="1200"/>
            <a:t> Use "Move Up/Down" to arrange the narrative (e.g., Sales first, then HR).</a:t>
          </a:r>
        </a:p>
      </dsp:txBody>
      <dsp:txXfrm>
        <a:off x="3004105" y="2644614"/>
        <a:ext cx="2072362" cy="720000"/>
      </dsp:txXfrm>
    </dsp:sp>
    <dsp:sp modelId="{8E56F648-186E-4FE3-AA62-809F0990E7F5}">
      <dsp:nvSpPr>
        <dsp:cNvPr id="0" name=""/>
        <dsp:cNvSpPr/>
      </dsp:nvSpPr>
      <dsp:spPr>
        <a:xfrm>
          <a:off x="5843242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140114-F6FE-4FC0-B834-E178C194EC3A}">
      <dsp:nvSpPr>
        <dsp:cNvPr id="0" name=""/>
        <dsp:cNvSpPr/>
      </dsp:nvSpPr>
      <dsp:spPr>
        <a:xfrm>
          <a:off x="6112649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571C2B-9C6D-4AE7-A2C3-D989D30EC58E}">
      <dsp:nvSpPr>
        <dsp:cNvPr id="0" name=""/>
        <dsp:cNvSpPr/>
      </dsp:nvSpPr>
      <dsp:spPr>
        <a:xfrm>
          <a:off x="5439131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/>
            <a:t>Style:</a:t>
          </a:r>
          <a:r>
            <a:rPr lang="en-US" sz="1200" kern="1200"/>
            <a:t> Select "Dark Mode" and uncheck "Single Page" for a grid view.</a:t>
          </a:r>
        </a:p>
      </dsp:txBody>
      <dsp:txXfrm>
        <a:off x="5439131" y="2644614"/>
        <a:ext cx="2072362" cy="720000"/>
      </dsp:txXfrm>
    </dsp:sp>
    <dsp:sp modelId="{89995C7E-CDA0-4AFA-B92B-9C83C976E7C6}">
      <dsp:nvSpPr>
        <dsp:cNvPr id="0" name=""/>
        <dsp:cNvSpPr/>
      </dsp:nvSpPr>
      <dsp:spPr>
        <a:xfrm>
          <a:off x="8278268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976751-11DC-4919-BDF0-8895ECEF0735}">
      <dsp:nvSpPr>
        <dsp:cNvPr id="0" name=""/>
        <dsp:cNvSpPr/>
      </dsp:nvSpPr>
      <dsp:spPr>
        <a:xfrm>
          <a:off x="8547675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068D21-4B36-496A-9E0D-9BFE795E0827}">
      <dsp:nvSpPr>
        <dsp:cNvPr id="0" name=""/>
        <dsp:cNvSpPr/>
      </dsp:nvSpPr>
      <dsp:spPr>
        <a:xfrm>
          <a:off x="7874157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/>
            <a:t>Generate:</a:t>
          </a:r>
          <a:r>
            <a:rPr lang="en-US" sz="1200" kern="1200"/>
            <a:t> Click "Create Dashboard". The HTML opens instantly.</a:t>
          </a:r>
        </a:p>
      </dsp:txBody>
      <dsp:txXfrm>
        <a:off x="7874157" y="2644614"/>
        <a:ext cx="207236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2C1A5-FFC1-8CC3-7AD8-8D9868452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BBDEBD-AE61-D107-74AE-A8748D454D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D0E70-33D8-40C2-B28C-8D11D94A9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D156E-EC75-4649-B4E8-10E68F62F3F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A9018-EAF6-5331-D5BD-E7EBCBEC0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2E053-AE2F-4BDA-95B7-51BCF0B21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12BF3-991E-4BBC-83BE-E53C93996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234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EAC55-4E72-5CE8-CC12-008865DD8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1DEF3-077B-D803-D872-8751BE148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C9CC3-07B6-7B28-6902-9246B9B62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D156E-EC75-4649-B4E8-10E68F62F3F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05358-9E07-B093-B7AF-B00C845FE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2B8A3-4990-A226-3FD7-62FA9D40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12BF3-991E-4BBC-83BE-E53C93996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8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6BCAA-5814-1F2D-48A1-02797F1B1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65740-9FCE-1DC0-A46E-6CA18B115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10D62-2887-3F8C-D77E-841E9FEE7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D156E-EC75-4649-B4E8-10E68F62F3F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CE26E-42DC-9780-4198-064A32CCB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47B0D-B09B-4DA9-B7EB-D3F8E3A9C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12BF3-991E-4BBC-83BE-E53C93996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459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A608-10B7-1613-89A7-18B5929E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0A3CF-617E-0E11-F155-BB634B5CA6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2DDD7-F600-2E3B-D612-45BFD52F3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99EF2-5B6C-3249-4194-360A085E7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D156E-EC75-4649-B4E8-10E68F62F3F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5A82DB-9146-6F02-9F68-C4851120F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FEFBD2-432F-65A5-4823-DF9F56C43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12BF3-991E-4BBC-83BE-E53C93996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02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40829-F1A7-CF53-B7CA-471DA0494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BE94E-F995-220E-5E11-E563CB1C4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775665-0985-82E0-E9B7-CC41CA14A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51696E-AB76-0603-4B84-FF4411B7E6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B3598A-5EAB-B635-C2AE-228BF90A1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46EF9E-C176-9B27-B071-E7FBA0E5D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D156E-EC75-4649-B4E8-10E68F62F3F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73D30B-23C9-ADB9-280E-9834C40D9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CAC18B-D845-080F-D8B6-1E32B4856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12BF3-991E-4BBC-83BE-E53C93996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981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CFC56-8F01-5B8E-4A69-8866D1419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165115-9D6E-9682-6391-077FA5E2C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D156E-EC75-4649-B4E8-10E68F62F3F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249C98-1789-BFB1-695B-BD763C91E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2FCDF7-9AD1-52D8-CA43-C7859141D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12BF3-991E-4BBC-83BE-E53C93996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61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C5164E-C3BA-830C-2143-FC62E2479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D156E-EC75-4649-B4E8-10E68F62F3F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A312D1-0F31-2C8C-C726-54DB9AD88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A309D-E1B2-5839-ACC4-F97D4DB9C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12BF3-991E-4BBC-83BE-E53C93996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384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B5991-7FF2-3A5C-3822-E213F2834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4C8F1-12CB-7C61-94DA-AB8EF39F3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BA091-761F-BE3B-E669-63E29F277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1F016-7BDF-24D7-195F-1F37FCC42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D156E-EC75-4649-B4E8-10E68F62F3F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6AC648-309C-0BA2-5BB4-9C56E82C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2A26B-290A-51C2-3C28-8BF06B2E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12BF3-991E-4BBC-83BE-E53C93996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57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E5943-1B5C-B7E6-98CA-A157D9151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357E78-CE75-3B33-5B86-77BC075E31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3D101B-1D81-3A6C-AD56-5F04FDCD4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AAD620-3FC6-9110-F1D9-049EF4BA4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D156E-EC75-4649-B4E8-10E68F62F3F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410A1-890C-16A7-F296-48FB1083C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FCCA8-EE29-3E2B-0B16-F90BE00D3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12BF3-991E-4BBC-83BE-E53C93996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99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4C724-87C3-FA9A-7EA8-9B1688703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27896-A302-1F1F-0C2D-FE3CBA9CE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ECD86-E761-498E-6E12-2623DD2B3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D156E-EC75-4649-B4E8-10E68F62F3F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06B18-B1B3-D541-6738-BDB1C6EA3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0D624-365B-C157-251B-299B6DEA8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12BF3-991E-4BBC-83BE-E53C93996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908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529A72-ADCA-5BB1-4EA4-6E145DA09B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A3FAE9-03F8-2C4F-8C41-B4EAA4A76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9515D-2641-7B1E-B8AC-60FACF224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D156E-EC75-4649-B4E8-10E68F62F3F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84BB5-9EF5-832B-9C3B-8775A8E08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D7A43-C90C-D6A3-7347-552EE7116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12BF3-991E-4BBC-83BE-E53C93996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00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695350-359B-6EF9-A07D-CFD1BB4F6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C4E4B-8214-F460-FF23-9EFACBE35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8AAE0-CC84-AB60-5231-68CDFC45E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AD156E-EC75-4649-B4E8-10E68F62F3F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FB41F-D9D4-FC6A-B121-309C7B8B8C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C6846-4924-3676-AF2D-438EB26A7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C12BF3-991E-4BBC-83BE-E53C93996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09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09FF9A-4FCE-468E-A86A-C9AB525E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1E12D4-3A88-428D-8E5E-AF1AFD923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Hand on a tablet with digital signs">
            <a:extLst>
              <a:ext uri="{FF2B5EF4-FFF2-40B4-BE49-F238E27FC236}">
                <a16:creationId xmlns:a16="http://schemas.microsoft.com/office/drawing/2014/main" id="{AE685741-B0F8-0B01-65DA-58CB9313197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5730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5D8614-8F3D-3EE9-1806-A814BA32F2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914402"/>
            <a:ext cx="10515600" cy="2985923"/>
          </a:xfrm>
        </p:spPr>
        <p:txBody>
          <a:bodyPr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Smart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B318B3-F47A-097E-E038-64D154786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072040"/>
            <a:ext cx="10515600" cy="138431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Combine Multiple Charts into One Professional HTML Report</a:t>
            </a:r>
          </a:p>
        </p:txBody>
      </p:sp>
    </p:spTree>
    <p:extLst>
      <p:ext uri="{BB962C8B-B14F-4D97-AF65-F5344CB8AC3E}">
        <p14:creationId xmlns:p14="http://schemas.microsoft.com/office/powerpoint/2010/main" val="30116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0B596-73DB-5270-49EE-0EDA94159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The "Fragmented Report" Problem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1A0E8-1EE3-393F-78CC-D4A3972E0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890979"/>
            <a:ext cx="9833548" cy="2693976"/>
          </a:xfrm>
        </p:spPr>
        <p:txBody>
          <a:bodyPr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</a:rPr>
              <a:t>Bullet Points:</a:t>
            </a:r>
            <a:endParaRPr lang="en-US" sz="1800">
              <a:solidFill>
                <a:schemeClr val="tx2"/>
              </a:solidFill>
            </a:endParaRPr>
          </a:p>
          <a:p>
            <a:pPr lvl="1"/>
            <a:r>
              <a:rPr lang="en-US" sz="1800">
                <a:solidFill>
                  <a:schemeClr val="tx2"/>
                </a:solidFill>
              </a:rPr>
              <a:t>❌ </a:t>
            </a:r>
            <a:r>
              <a:rPr lang="en-US" sz="1800" b="1">
                <a:solidFill>
                  <a:schemeClr val="tx2"/>
                </a:solidFill>
              </a:rPr>
              <a:t>Too Many Files:</a:t>
            </a:r>
            <a:r>
              <a:rPr lang="en-US" sz="1800">
                <a:solidFill>
                  <a:schemeClr val="tx2"/>
                </a:solidFill>
              </a:rPr>
              <a:t> Sending 10 separate HTML charts to a manager is messy.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❌ </a:t>
            </a:r>
            <a:r>
              <a:rPr lang="en-US" sz="1800" b="1">
                <a:solidFill>
                  <a:schemeClr val="tx2"/>
                </a:solidFill>
              </a:rPr>
              <a:t>No Big Picture:</a:t>
            </a:r>
            <a:r>
              <a:rPr lang="en-US" sz="1800">
                <a:solidFill>
                  <a:schemeClr val="tx2"/>
                </a:solidFill>
              </a:rPr>
              <a:t> Hard to correlate data when flipping between different windows.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❌ </a:t>
            </a:r>
            <a:r>
              <a:rPr lang="en-US" sz="1800" b="1">
                <a:solidFill>
                  <a:schemeClr val="tx2"/>
                </a:solidFill>
              </a:rPr>
              <a:t>Static Layouts:</a:t>
            </a:r>
            <a:r>
              <a:rPr lang="en-US" sz="1800">
                <a:solidFill>
                  <a:schemeClr val="tx2"/>
                </a:solidFill>
              </a:rPr>
              <a:t> Excel dashboards break when moved to PowerPoint or Email.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❌ </a:t>
            </a:r>
            <a:r>
              <a:rPr lang="en-US" sz="1800" b="1">
                <a:solidFill>
                  <a:schemeClr val="tx2"/>
                </a:solidFill>
              </a:rPr>
              <a:t>Rigid Structure:</a:t>
            </a:r>
            <a:r>
              <a:rPr lang="en-US" sz="1800">
                <a:solidFill>
                  <a:schemeClr val="tx2"/>
                </a:solidFill>
              </a:rPr>
              <a:t> Changing the order of charts usually means rebuilding the whole report.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4242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BAE5A1-0006-B2E0-5905-EAA821292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 Build Your Story in   Seconds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4BCDF-A4FA-B7E6-9D8A-850BFF084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900" b="1" dirty="0"/>
              <a:t>Key Capabilities:</a:t>
            </a:r>
            <a:endParaRPr lang="en-US" sz="1900" dirty="0"/>
          </a:p>
          <a:p>
            <a:pPr lvl="1"/>
            <a:r>
              <a:rPr lang="en-US" sz="1900" dirty="0"/>
              <a:t>🔗 </a:t>
            </a:r>
            <a:r>
              <a:rPr lang="en-US" sz="1900" b="1" dirty="0"/>
              <a:t>Aggregation:</a:t>
            </a:r>
            <a:r>
              <a:rPr lang="en-US" sz="1900" dirty="0"/>
              <a:t> Select multiple JSON chart files and merge them instantly.</a:t>
            </a:r>
          </a:p>
          <a:p>
            <a:pPr lvl="1"/>
            <a:r>
              <a:rPr lang="en-US" sz="1900" dirty="0"/>
              <a:t>🔀 </a:t>
            </a:r>
            <a:r>
              <a:rPr lang="en-US" sz="1900" b="1" dirty="0"/>
              <a:t>Custom Organization:</a:t>
            </a:r>
            <a:r>
              <a:rPr lang="en-US" sz="1900" dirty="0"/>
              <a:t> Reorder charts (Up/Down) before generating.</a:t>
            </a:r>
          </a:p>
          <a:p>
            <a:pPr lvl="1"/>
            <a:r>
              <a:rPr lang="en-US" sz="1900" dirty="0"/>
              <a:t>🎨 </a:t>
            </a:r>
            <a:r>
              <a:rPr lang="en-US" sz="1900" b="1" dirty="0"/>
              <a:t>Flexible Layouts:</a:t>
            </a:r>
            <a:r>
              <a:rPr lang="en-US" sz="1900" dirty="0"/>
              <a:t> Choose between </a:t>
            </a:r>
            <a:r>
              <a:rPr lang="en-US" sz="1900" b="1" dirty="0"/>
              <a:t>Tab View</a:t>
            </a:r>
            <a:r>
              <a:rPr lang="en-US" sz="1900" dirty="0"/>
              <a:t> (Focus) or </a:t>
            </a:r>
            <a:r>
              <a:rPr lang="en-US" sz="1900" b="1" dirty="0"/>
              <a:t>Grid View</a:t>
            </a:r>
            <a:r>
              <a:rPr lang="en-US" sz="1900" dirty="0"/>
              <a:t> (Overview).</a:t>
            </a:r>
          </a:p>
          <a:p>
            <a:pPr lvl="1"/>
            <a:r>
              <a:rPr lang="en-US" sz="1900" dirty="0"/>
              <a:t>🌓 </a:t>
            </a:r>
            <a:r>
              <a:rPr lang="en-US" sz="1900" b="1" dirty="0"/>
              <a:t>Theme Engine:</a:t>
            </a:r>
            <a:r>
              <a:rPr lang="en-US" sz="1900" dirty="0"/>
              <a:t> One-click switch between Light and Dark professional themes.</a:t>
            </a:r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35AB2852-D51D-34F8-A9D4-FDCD95857F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58" r="27824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24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D2AD17-6539-78A6-D03D-29B0D8EB9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intuitive Control Panel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5CE73-D0D0-1033-EB75-7E5893536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890979"/>
            <a:ext cx="9833548" cy="2693976"/>
          </a:xfrm>
        </p:spPr>
        <p:txBody>
          <a:bodyPr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</a:rPr>
              <a:t>Features:</a:t>
            </a:r>
            <a:endParaRPr lang="en-US" sz="1800">
              <a:solidFill>
                <a:schemeClr val="tx2"/>
              </a:solidFill>
            </a:endParaRPr>
          </a:p>
          <a:p>
            <a:pPr lvl="1"/>
            <a:r>
              <a:rPr lang="en-US" sz="1800" b="1">
                <a:solidFill>
                  <a:schemeClr val="tx2"/>
                </a:solidFill>
              </a:rPr>
              <a:t>File Manager:</a:t>
            </a:r>
            <a:r>
              <a:rPr lang="en-US" sz="1800">
                <a:solidFill>
                  <a:schemeClr val="tx2"/>
                </a:solidFill>
              </a:rPr>
              <a:t> Add, Remove, or Clear JSON files easily.</a:t>
            </a:r>
          </a:p>
          <a:p>
            <a:pPr lvl="1"/>
            <a:r>
              <a:rPr lang="en-US" sz="1800" b="1">
                <a:solidFill>
                  <a:schemeClr val="tx2"/>
                </a:solidFill>
              </a:rPr>
              <a:t>Sequence Control:</a:t>
            </a:r>
            <a:r>
              <a:rPr lang="en-US" sz="1800">
                <a:solidFill>
                  <a:schemeClr val="tx2"/>
                </a:solidFill>
              </a:rPr>
              <a:t> dedicated </a:t>
            </a:r>
            <a:r>
              <a:rPr lang="en-US" sz="1800" b="1">
                <a:solidFill>
                  <a:schemeClr val="tx2"/>
                </a:solidFill>
              </a:rPr>
              <a:t>Move Up</a:t>
            </a:r>
            <a:r>
              <a:rPr lang="en-US" sz="1800">
                <a:solidFill>
                  <a:schemeClr val="tx2"/>
                </a:solidFill>
              </a:rPr>
              <a:t> / </a:t>
            </a:r>
            <a:r>
              <a:rPr lang="en-US" sz="1800" b="1">
                <a:solidFill>
                  <a:schemeClr val="tx2"/>
                </a:solidFill>
              </a:rPr>
              <a:t>Move Down</a:t>
            </a:r>
            <a:r>
              <a:rPr lang="en-US" sz="1800">
                <a:solidFill>
                  <a:schemeClr val="tx2"/>
                </a:solidFill>
              </a:rPr>
              <a:t> buttons to perfect your storytelling flow.</a:t>
            </a:r>
          </a:p>
          <a:p>
            <a:pPr lvl="1"/>
            <a:r>
              <a:rPr lang="en-US" sz="1800" b="1">
                <a:solidFill>
                  <a:schemeClr val="tx2"/>
                </a:solidFill>
              </a:rPr>
              <a:t>Mode Selector:</a:t>
            </a:r>
            <a:r>
              <a:rPr lang="en-US" sz="1800">
                <a:solidFill>
                  <a:schemeClr val="tx2"/>
                </a:solidFill>
              </a:rPr>
              <a:t> Toggle "Single Page" (Tabs) or "Auto Arrange" (Grid) checkboxes.</a:t>
            </a:r>
          </a:p>
          <a:p>
            <a:pPr lvl="1"/>
            <a:r>
              <a:rPr lang="en-US" sz="1800" b="1">
                <a:solidFill>
                  <a:schemeClr val="tx2"/>
                </a:solidFill>
              </a:rPr>
              <a:t>Status Indicators:</a:t>
            </a:r>
            <a:r>
              <a:rPr lang="en-US" sz="1800">
                <a:solidFill>
                  <a:schemeClr val="tx2"/>
                </a:solidFill>
              </a:rPr>
              <a:t> Color-coded buttons (Green for Add, Blue for Create, Red for Clear).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23539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DB2F58-B4A6-1976-53FB-766FE45A0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Choose Your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5A7ED-3DDA-3EC4-3573-DA93C1526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600" b="1"/>
              <a:t>Option 1: Grid View (Dashboard Mode)</a:t>
            </a:r>
            <a:endParaRPr lang="en-US" sz="1600"/>
          </a:p>
          <a:p>
            <a:pPr lvl="1"/>
            <a:r>
              <a:rPr lang="en-US" sz="1600" i="1"/>
              <a:t>Best for:</a:t>
            </a:r>
            <a:r>
              <a:rPr lang="en-US" sz="1600"/>
              <a:t> KPI Monitors and Executive Summaries.</a:t>
            </a:r>
          </a:p>
          <a:p>
            <a:pPr lvl="1"/>
            <a:r>
              <a:rPr lang="en-US" sz="1600" i="1"/>
              <a:t>Tech:</a:t>
            </a:r>
            <a:r>
              <a:rPr lang="en-US" sz="1600"/>
              <a:t> Uses </a:t>
            </a:r>
            <a:r>
              <a:rPr lang="en-US" sz="1600" b="1"/>
              <a:t>GridStack.js</a:t>
            </a:r>
            <a:r>
              <a:rPr lang="en-US" sz="1600"/>
              <a:t> for a drag-and-drop experience.</a:t>
            </a:r>
          </a:p>
          <a:p>
            <a:pPr lvl="1"/>
            <a:r>
              <a:rPr lang="en-US" sz="1600" i="1"/>
              <a:t>Feature:</a:t>
            </a:r>
            <a:r>
              <a:rPr lang="en-US" sz="1600"/>
              <a:t> Auto-arranges charts in a responsive tile layout.</a:t>
            </a:r>
          </a:p>
          <a:p>
            <a:r>
              <a:rPr lang="en-US" sz="1600" b="1"/>
              <a:t>Option 2: Tab View (Single Page Mode)</a:t>
            </a:r>
            <a:endParaRPr lang="en-US" sz="1600"/>
          </a:p>
          <a:p>
            <a:pPr lvl="1"/>
            <a:r>
              <a:rPr lang="en-US" sz="1600" i="1"/>
              <a:t>Best for:</a:t>
            </a:r>
            <a:r>
              <a:rPr lang="en-US" sz="1600"/>
              <a:t> Deep-dive presentations.</a:t>
            </a:r>
          </a:p>
          <a:p>
            <a:pPr lvl="1"/>
            <a:r>
              <a:rPr lang="en-US" sz="1600" i="1"/>
              <a:t>Tech:</a:t>
            </a:r>
            <a:r>
              <a:rPr lang="en-US" sz="1600"/>
              <a:t> Creates a navigation bar at the top.</a:t>
            </a:r>
          </a:p>
          <a:p>
            <a:pPr lvl="1"/>
            <a:r>
              <a:rPr lang="en-US" sz="1600" i="1"/>
              <a:t>Feature:</a:t>
            </a:r>
            <a:r>
              <a:rPr lang="en-US" sz="1600"/>
              <a:t> Focuses on one large chart at a time; charts resize dynamically when clicked.</a:t>
            </a:r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4B4E1ECA-401B-6E20-F7CC-2B652E062D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58" r="27824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238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02A87310-5CE1-F93F-1EED-6EDA580E54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50" r="25159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776101-EC08-F680-52B2-7163D9006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/>
              <a:t>Interactive &amp; Editable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C59CB-33B4-47E2-8CEE-08B0B0C2C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anchor="ctr">
            <a:normAutofit/>
          </a:bodyPr>
          <a:lstStyle/>
          <a:p>
            <a:r>
              <a:rPr lang="en-US" sz="1600" b="1"/>
              <a:t>Description:</a:t>
            </a:r>
            <a:r>
              <a:rPr lang="en-US" sz="1600"/>
              <a:t> The generated HTML is not just a picture—it's a live application.</a:t>
            </a:r>
          </a:p>
          <a:p>
            <a:r>
              <a:rPr lang="en-US" sz="1600" b="1"/>
              <a:t>Key Features:</a:t>
            </a:r>
            <a:endParaRPr lang="en-US" sz="1600"/>
          </a:p>
          <a:p>
            <a:pPr lvl="1"/>
            <a:r>
              <a:rPr lang="en-US" sz="1600"/>
              <a:t>🖱️ </a:t>
            </a:r>
            <a:r>
              <a:rPr lang="en-US" sz="1600" b="1"/>
              <a:t>Drag &amp; Drop:</a:t>
            </a:r>
            <a:r>
              <a:rPr lang="en-US" sz="1600"/>
              <a:t> In Grid Mode, users can move and resize chart cards freely.</a:t>
            </a:r>
          </a:p>
          <a:p>
            <a:pPr lvl="1"/>
            <a:r>
              <a:rPr lang="en-US" sz="1600"/>
              <a:t>💾 </a:t>
            </a:r>
            <a:r>
              <a:rPr lang="en-US" sz="1600" b="1"/>
              <a:t>Save Layout:</a:t>
            </a:r>
            <a:r>
              <a:rPr lang="en-US" sz="1600"/>
              <a:t> Unhappy with the auto-arrangement? Drag the charts where you want them, click </a:t>
            </a:r>
            <a:r>
              <a:rPr lang="en-US" sz="1600" b="1"/>
              <a:t>"Save Layout"</a:t>
            </a:r>
            <a:r>
              <a:rPr lang="en-US" sz="1600"/>
              <a:t>, and download the new HTML configuration.</a:t>
            </a:r>
          </a:p>
          <a:p>
            <a:pPr lvl="1"/>
            <a:r>
              <a:rPr lang="en-US" sz="1600"/>
              <a:t>📌 </a:t>
            </a:r>
            <a:r>
              <a:rPr lang="en-US" sz="1600" b="1"/>
              <a:t>Sticky Header:</a:t>
            </a:r>
            <a:r>
              <a:rPr lang="en-US" sz="1600"/>
              <a:t> Dashboard title and controls stay visible while scrolling.</a:t>
            </a:r>
          </a:p>
          <a:p>
            <a:pPr lvl="1"/>
            <a:r>
              <a:rPr lang="en-US" sz="1600"/>
              <a:t>🖼️ </a:t>
            </a:r>
            <a:r>
              <a:rPr lang="en-US" sz="1600" b="1"/>
              <a:t>Screenshot:</a:t>
            </a:r>
            <a:r>
              <a:rPr lang="en-US" sz="1600"/>
              <a:t> Built-in camera button to capture individual chart cards.</a:t>
            </a:r>
          </a:p>
        </p:txBody>
      </p:sp>
    </p:spTree>
    <p:extLst>
      <p:ext uri="{BB962C8B-B14F-4D97-AF65-F5344CB8AC3E}">
        <p14:creationId xmlns:p14="http://schemas.microsoft.com/office/powerpoint/2010/main" val="2458933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58ADE-F6EC-5DC1-2A14-F25146FF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Powered by Modern Web Tech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4BA22-E7FA-BFA4-F2B5-A07DAB147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1700" b="1"/>
              <a:t>Bullet Points:</a:t>
            </a:r>
            <a:endParaRPr lang="en-US" sz="1700"/>
          </a:p>
          <a:p>
            <a:pPr lvl="1"/>
            <a:r>
              <a:rPr lang="en-US" sz="1700" b="1"/>
              <a:t>Dynamic Parsing:</a:t>
            </a:r>
            <a:r>
              <a:rPr lang="en-US" sz="1700"/>
              <a:t> VBA reads JSON metadata to extract Titles and Configurations automatically.</a:t>
            </a:r>
          </a:p>
          <a:p>
            <a:pPr lvl="1"/>
            <a:r>
              <a:rPr lang="en-US" sz="1700" b="1"/>
              <a:t>Responsive Design:</a:t>
            </a:r>
            <a:r>
              <a:rPr lang="en-US" sz="1700"/>
              <a:t> CSS variables handle the specific </a:t>
            </a:r>
            <a:r>
              <a:rPr lang="en-US" sz="1700" b="1"/>
              <a:t>Dark Mode</a:t>
            </a:r>
            <a:r>
              <a:rPr lang="en-US" sz="1700"/>
              <a:t> palettes (#121212 background).</a:t>
            </a:r>
          </a:p>
          <a:p>
            <a:pPr lvl="1"/>
            <a:r>
              <a:rPr lang="en-US" sz="1700" b="1"/>
              <a:t>Performance:</a:t>
            </a:r>
            <a:endParaRPr lang="en-US" sz="1700"/>
          </a:p>
          <a:p>
            <a:pPr lvl="2"/>
            <a:r>
              <a:rPr lang="en-US" sz="1700" i="1"/>
              <a:t>Tab Mode:</a:t>
            </a:r>
            <a:r>
              <a:rPr lang="en-US" sz="1700"/>
              <a:t> Loads charts hidden to save memory, renders only when clicked.</a:t>
            </a:r>
          </a:p>
          <a:p>
            <a:pPr lvl="2"/>
            <a:r>
              <a:rPr lang="en-US" sz="1700" i="1"/>
              <a:t>Grid Mode:</a:t>
            </a:r>
            <a:r>
              <a:rPr lang="en-US" sz="1700"/>
              <a:t> Uses optimized container queries.</a:t>
            </a:r>
          </a:p>
          <a:p>
            <a:pPr lvl="1"/>
            <a:r>
              <a:rPr lang="en-US" sz="1700" b="1"/>
              <a:t>Export Engine:</a:t>
            </a:r>
            <a:r>
              <a:rPr lang="en-US" sz="1700"/>
              <a:t> Uses ADODB.Stream for perfect UTF-8 character encoding (supports currency symbols like ₹).</a:t>
            </a:r>
          </a:p>
        </p:txBody>
      </p:sp>
      <p:pic>
        <p:nvPicPr>
          <p:cNvPr id="5" name="Picture 4" descr="Abstract background">
            <a:extLst>
              <a:ext uri="{FF2B5EF4-FFF2-40B4-BE49-F238E27FC236}">
                <a16:creationId xmlns:a16="http://schemas.microsoft.com/office/drawing/2014/main" id="{E0F2C267-6108-7AB6-1687-F67B239183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480" r="6925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3779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066D82-31FF-666D-F944-88CB4CBD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42237" cy="1325563"/>
          </a:xfrm>
        </p:spPr>
        <p:txBody>
          <a:bodyPr>
            <a:normAutofit/>
          </a:bodyPr>
          <a:lstStyle/>
          <a:p>
            <a:r>
              <a:rPr lang="en-US" sz="5200"/>
              <a:t>From Files to Dashboard in 4 Steps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9FF09A-42DC-68B1-AA37-DE7DB56876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26756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4924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E3169-5B6A-32EF-030C-6D7F915C0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Perfect For...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2AE05-A186-8501-CC1A-8ABCEC55E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900" b="1"/>
              <a:t>Scenarios:</a:t>
            </a:r>
            <a:endParaRPr lang="en-US" sz="1900"/>
          </a:p>
          <a:p>
            <a:pPr lvl="1"/>
            <a:r>
              <a:rPr lang="en-US" sz="1900" b="1"/>
              <a:t>Monthly Management Decks:</a:t>
            </a:r>
            <a:r>
              <a:rPr lang="en-US" sz="1900"/>
              <a:t> Combine Sales, HR, and Finance charts into one link.</a:t>
            </a:r>
          </a:p>
          <a:p>
            <a:pPr lvl="1"/>
            <a:r>
              <a:rPr lang="en-US" sz="1900" b="1"/>
              <a:t>Project Status Reports:</a:t>
            </a:r>
            <a:r>
              <a:rPr lang="en-US" sz="1900"/>
              <a:t> Grid view of all project timeline charts.</a:t>
            </a:r>
          </a:p>
          <a:p>
            <a:pPr lvl="1"/>
            <a:r>
              <a:rPr lang="en-US" sz="1900" b="1"/>
              <a:t>Client Deliverables:</a:t>
            </a:r>
            <a:r>
              <a:rPr lang="en-US" sz="1900"/>
              <a:t> Send a branded, interactive HTML file instead of a PDF.</a:t>
            </a:r>
          </a:p>
          <a:p>
            <a:pPr lvl="1"/>
            <a:r>
              <a:rPr lang="en-US" sz="1900" b="1"/>
              <a:t>Comparison Views:</a:t>
            </a:r>
            <a:r>
              <a:rPr lang="en-US" sz="1900"/>
              <a:t> Use Tab view to toggle between "2023 Data" and "2024 Data" charts.</a:t>
            </a:r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04AFD442-1047-8770-AC60-4ACD23C9E9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58" r="27824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083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621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Smart Dashboard</vt:lpstr>
      <vt:lpstr>The "Fragmented Report" Problem</vt:lpstr>
      <vt:lpstr> Build Your Story in   Seconds</vt:lpstr>
      <vt:lpstr>intuitive Control Panel</vt:lpstr>
      <vt:lpstr>Choose Your View</vt:lpstr>
      <vt:lpstr>Interactive &amp; Editable</vt:lpstr>
      <vt:lpstr>Powered by Modern Web Tech</vt:lpstr>
      <vt:lpstr>From Files to Dashboard in 4 Steps</vt:lpstr>
      <vt:lpstr>Perfect For...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Jangir</dc:creator>
  <cp:lastModifiedBy>Sachin Jangir</cp:lastModifiedBy>
  <cp:revision>1</cp:revision>
  <dcterms:created xsi:type="dcterms:W3CDTF">2026-01-24T05:48:20Z</dcterms:created>
  <dcterms:modified xsi:type="dcterms:W3CDTF">2026-01-24T05:58:09Z</dcterms:modified>
</cp:coreProperties>
</file>