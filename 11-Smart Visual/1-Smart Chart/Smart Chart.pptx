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5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54746D-58E9-48E5-8FDF-B6B43A10FC7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D97788E9-74A7-4F5D-8035-C2BDE8A57DD5}">
      <dgm:prSet/>
      <dgm:spPr/>
      <dgm:t>
        <a:bodyPr/>
        <a:lstStyle/>
        <a:p>
          <a:pPr>
            <a:defRPr cap="all"/>
          </a:pPr>
          <a:r>
            <a:rPr lang="en-US" b="1"/>
            <a:t>Sub-text:</a:t>
          </a:r>
          <a:r>
            <a:rPr lang="en-US"/>
            <a:t> Stop using static charts. Start building interactive stories.</a:t>
          </a:r>
        </a:p>
      </dgm:t>
    </dgm:pt>
    <dgm:pt modelId="{D5562E89-8E86-49F3-802E-071F78A6F5CF}" type="parTrans" cxnId="{137FA3B1-A9D1-46BD-9A3B-3179E6DB29F9}">
      <dgm:prSet/>
      <dgm:spPr/>
      <dgm:t>
        <a:bodyPr/>
        <a:lstStyle/>
        <a:p>
          <a:endParaRPr lang="en-US"/>
        </a:p>
      </dgm:t>
    </dgm:pt>
    <dgm:pt modelId="{6E09390E-F833-4B03-BA4E-CAE05F587A80}" type="sibTrans" cxnId="{137FA3B1-A9D1-46BD-9A3B-3179E6DB29F9}">
      <dgm:prSet/>
      <dgm:spPr/>
      <dgm:t>
        <a:bodyPr/>
        <a:lstStyle/>
        <a:p>
          <a:endParaRPr lang="en-US"/>
        </a:p>
      </dgm:t>
    </dgm:pt>
    <dgm:pt modelId="{2A0123A6-F506-4DC7-9714-8A833DD5E181}">
      <dgm:prSet/>
      <dgm:spPr/>
      <dgm:t>
        <a:bodyPr/>
        <a:lstStyle/>
        <a:p>
          <a:pPr>
            <a:defRPr cap="all"/>
          </a:pPr>
          <a:r>
            <a:rPr lang="en-US" b="1"/>
            <a:t>Call to Action:</a:t>
          </a:r>
          <a:r>
            <a:rPr lang="en-US"/>
            <a:t> Try the Smart Chart Builder Tool now!</a:t>
          </a:r>
        </a:p>
      </dgm:t>
    </dgm:pt>
    <dgm:pt modelId="{B2E82859-CA2E-49E1-A833-5A47C6CD37DD}" type="parTrans" cxnId="{E27404E2-E297-4C46-83BF-53F59923B440}">
      <dgm:prSet/>
      <dgm:spPr/>
      <dgm:t>
        <a:bodyPr/>
        <a:lstStyle/>
        <a:p>
          <a:endParaRPr lang="en-US"/>
        </a:p>
      </dgm:t>
    </dgm:pt>
    <dgm:pt modelId="{3AC8EA71-E219-4A3B-B0E3-71E5516B7D2D}" type="sibTrans" cxnId="{E27404E2-E297-4C46-83BF-53F59923B440}">
      <dgm:prSet/>
      <dgm:spPr/>
      <dgm:t>
        <a:bodyPr/>
        <a:lstStyle/>
        <a:p>
          <a:endParaRPr lang="en-US"/>
        </a:p>
      </dgm:t>
    </dgm:pt>
    <dgm:pt modelId="{F8150314-DCDA-444E-983D-2ED316D489E1}" type="pres">
      <dgm:prSet presAssocID="{2654746D-58E9-48E5-8FDF-B6B43A10FC72}" presName="root" presStyleCnt="0">
        <dgm:presLayoutVars>
          <dgm:dir/>
          <dgm:resizeHandles val="exact"/>
        </dgm:presLayoutVars>
      </dgm:prSet>
      <dgm:spPr/>
    </dgm:pt>
    <dgm:pt modelId="{C5CA47C0-64FA-41A9-8732-DB41A79E9DB4}" type="pres">
      <dgm:prSet presAssocID="{D97788E9-74A7-4F5D-8035-C2BDE8A57DD5}" presName="compNode" presStyleCnt="0"/>
      <dgm:spPr/>
    </dgm:pt>
    <dgm:pt modelId="{831040EF-EBB6-4BDA-8541-E9A73AE99935}" type="pres">
      <dgm:prSet presAssocID="{D97788E9-74A7-4F5D-8035-C2BDE8A57DD5}" presName="iconBgRect" presStyleLbl="bgShp" presStyleIdx="0" presStyleCnt="2"/>
      <dgm:spPr/>
    </dgm:pt>
    <dgm:pt modelId="{C031C573-1ED3-4C5A-8ACD-F99EFAFAF1C0}" type="pres">
      <dgm:prSet presAssocID="{D97788E9-74A7-4F5D-8035-C2BDE8A57DD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C9C42DD0-8A94-4436-8E62-6617A50955BE}" type="pres">
      <dgm:prSet presAssocID="{D97788E9-74A7-4F5D-8035-C2BDE8A57DD5}" presName="spaceRect" presStyleCnt="0"/>
      <dgm:spPr/>
    </dgm:pt>
    <dgm:pt modelId="{99A3194F-F9AF-4557-98F8-A5A870348AB8}" type="pres">
      <dgm:prSet presAssocID="{D97788E9-74A7-4F5D-8035-C2BDE8A57DD5}" presName="textRect" presStyleLbl="revTx" presStyleIdx="0" presStyleCnt="2">
        <dgm:presLayoutVars>
          <dgm:chMax val="1"/>
          <dgm:chPref val="1"/>
        </dgm:presLayoutVars>
      </dgm:prSet>
      <dgm:spPr/>
    </dgm:pt>
    <dgm:pt modelId="{F3E61708-3D37-4166-BB94-AF0E4C7F10F4}" type="pres">
      <dgm:prSet presAssocID="{6E09390E-F833-4B03-BA4E-CAE05F587A80}" presName="sibTrans" presStyleCnt="0"/>
      <dgm:spPr/>
    </dgm:pt>
    <dgm:pt modelId="{EEE1ACD0-6BE9-4B25-ACDF-617D7A718528}" type="pres">
      <dgm:prSet presAssocID="{2A0123A6-F506-4DC7-9714-8A833DD5E181}" presName="compNode" presStyleCnt="0"/>
      <dgm:spPr/>
    </dgm:pt>
    <dgm:pt modelId="{3DCDCC93-247C-435F-A90D-A06002E332CE}" type="pres">
      <dgm:prSet presAssocID="{2A0123A6-F506-4DC7-9714-8A833DD5E181}" presName="iconBgRect" presStyleLbl="bgShp" presStyleIdx="1" presStyleCnt="2"/>
      <dgm:spPr/>
    </dgm:pt>
    <dgm:pt modelId="{92A75733-862B-4AA0-8F32-B29B2D667BFF}" type="pres">
      <dgm:prSet presAssocID="{2A0123A6-F506-4DC7-9714-8A833DD5E18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468D0E2-8F60-40AE-915D-9412072886A5}" type="pres">
      <dgm:prSet presAssocID="{2A0123A6-F506-4DC7-9714-8A833DD5E181}" presName="spaceRect" presStyleCnt="0"/>
      <dgm:spPr/>
    </dgm:pt>
    <dgm:pt modelId="{BFDDEC98-3B7E-486A-BF85-F4E144324EAA}" type="pres">
      <dgm:prSet presAssocID="{2A0123A6-F506-4DC7-9714-8A833DD5E18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28EAE24-FA2A-41B8-9A87-46A0DB9EAEA4}" type="presOf" srcId="{2654746D-58E9-48E5-8FDF-B6B43A10FC72}" destId="{F8150314-DCDA-444E-983D-2ED316D489E1}" srcOrd="0" destOrd="0" presId="urn:microsoft.com/office/officeart/2018/5/layout/IconCircleLabelList"/>
    <dgm:cxn modelId="{B205B67B-F418-48C2-B3E4-635592771C95}" type="presOf" srcId="{2A0123A6-F506-4DC7-9714-8A833DD5E181}" destId="{BFDDEC98-3B7E-486A-BF85-F4E144324EAA}" srcOrd="0" destOrd="0" presId="urn:microsoft.com/office/officeart/2018/5/layout/IconCircleLabelList"/>
    <dgm:cxn modelId="{137FA3B1-A9D1-46BD-9A3B-3179E6DB29F9}" srcId="{2654746D-58E9-48E5-8FDF-B6B43A10FC72}" destId="{D97788E9-74A7-4F5D-8035-C2BDE8A57DD5}" srcOrd="0" destOrd="0" parTransId="{D5562E89-8E86-49F3-802E-071F78A6F5CF}" sibTransId="{6E09390E-F833-4B03-BA4E-CAE05F587A80}"/>
    <dgm:cxn modelId="{AC5708C6-7069-422A-BC66-F231BF549CC5}" type="presOf" srcId="{D97788E9-74A7-4F5D-8035-C2BDE8A57DD5}" destId="{99A3194F-F9AF-4557-98F8-A5A870348AB8}" srcOrd="0" destOrd="0" presId="urn:microsoft.com/office/officeart/2018/5/layout/IconCircleLabelList"/>
    <dgm:cxn modelId="{E27404E2-E297-4C46-83BF-53F59923B440}" srcId="{2654746D-58E9-48E5-8FDF-B6B43A10FC72}" destId="{2A0123A6-F506-4DC7-9714-8A833DD5E181}" srcOrd="1" destOrd="0" parTransId="{B2E82859-CA2E-49E1-A833-5A47C6CD37DD}" sibTransId="{3AC8EA71-E219-4A3B-B0E3-71E5516B7D2D}"/>
    <dgm:cxn modelId="{5B99ACDC-C7B9-41D2-A79D-FEE259ADF0F1}" type="presParOf" srcId="{F8150314-DCDA-444E-983D-2ED316D489E1}" destId="{C5CA47C0-64FA-41A9-8732-DB41A79E9DB4}" srcOrd="0" destOrd="0" presId="urn:microsoft.com/office/officeart/2018/5/layout/IconCircleLabelList"/>
    <dgm:cxn modelId="{849D1C44-4F6D-4171-8DA9-E7F32DBEEB84}" type="presParOf" srcId="{C5CA47C0-64FA-41A9-8732-DB41A79E9DB4}" destId="{831040EF-EBB6-4BDA-8541-E9A73AE99935}" srcOrd="0" destOrd="0" presId="urn:microsoft.com/office/officeart/2018/5/layout/IconCircleLabelList"/>
    <dgm:cxn modelId="{A3D60D8A-5229-470D-BD7B-D49A54FE23A7}" type="presParOf" srcId="{C5CA47C0-64FA-41A9-8732-DB41A79E9DB4}" destId="{C031C573-1ED3-4C5A-8ACD-F99EFAFAF1C0}" srcOrd="1" destOrd="0" presId="urn:microsoft.com/office/officeart/2018/5/layout/IconCircleLabelList"/>
    <dgm:cxn modelId="{4D908769-2D32-4E47-84AE-E4686CDD8D95}" type="presParOf" srcId="{C5CA47C0-64FA-41A9-8732-DB41A79E9DB4}" destId="{C9C42DD0-8A94-4436-8E62-6617A50955BE}" srcOrd="2" destOrd="0" presId="urn:microsoft.com/office/officeart/2018/5/layout/IconCircleLabelList"/>
    <dgm:cxn modelId="{21AF99BC-525E-4AB7-B5A9-A6B0D89FCDF9}" type="presParOf" srcId="{C5CA47C0-64FA-41A9-8732-DB41A79E9DB4}" destId="{99A3194F-F9AF-4557-98F8-A5A870348AB8}" srcOrd="3" destOrd="0" presId="urn:microsoft.com/office/officeart/2018/5/layout/IconCircleLabelList"/>
    <dgm:cxn modelId="{441693C7-1F8C-4A85-9721-E9804177A767}" type="presParOf" srcId="{F8150314-DCDA-444E-983D-2ED316D489E1}" destId="{F3E61708-3D37-4166-BB94-AF0E4C7F10F4}" srcOrd="1" destOrd="0" presId="urn:microsoft.com/office/officeart/2018/5/layout/IconCircleLabelList"/>
    <dgm:cxn modelId="{D121CC71-D516-48D0-8697-92C6F0883147}" type="presParOf" srcId="{F8150314-DCDA-444E-983D-2ED316D489E1}" destId="{EEE1ACD0-6BE9-4B25-ACDF-617D7A718528}" srcOrd="2" destOrd="0" presId="urn:microsoft.com/office/officeart/2018/5/layout/IconCircleLabelList"/>
    <dgm:cxn modelId="{25E71691-490F-4EE8-AC46-BFF05E584C24}" type="presParOf" srcId="{EEE1ACD0-6BE9-4B25-ACDF-617D7A718528}" destId="{3DCDCC93-247C-435F-A90D-A06002E332CE}" srcOrd="0" destOrd="0" presId="urn:microsoft.com/office/officeart/2018/5/layout/IconCircleLabelList"/>
    <dgm:cxn modelId="{4AE88FCC-D334-4132-886E-5FC7850272CC}" type="presParOf" srcId="{EEE1ACD0-6BE9-4B25-ACDF-617D7A718528}" destId="{92A75733-862B-4AA0-8F32-B29B2D667BFF}" srcOrd="1" destOrd="0" presId="urn:microsoft.com/office/officeart/2018/5/layout/IconCircleLabelList"/>
    <dgm:cxn modelId="{8625C641-8DF9-400A-8316-9E1332103A87}" type="presParOf" srcId="{EEE1ACD0-6BE9-4B25-ACDF-617D7A718528}" destId="{3468D0E2-8F60-40AE-915D-9412072886A5}" srcOrd="2" destOrd="0" presId="urn:microsoft.com/office/officeart/2018/5/layout/IconCircleLabelList"/>
    <dgm:cxn modelId="{9BDD2A14-5EBD-45A1-BFB7-BFE5A0647058}" type="presParOf" srcId="{EEE1ACD0-6BE9-4B25-ACDF-617D7A718528}" destId="{BFDDEC98-3B7E-486A-BF85-F4E144324EA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040EF-EBB6-4BDA-8541-E9A73AE99935}">
      <dsp:nvSpPr>
        <dsp:cNvPr id="0" name=""/>
        <dsp:cNvSpPr/>
      </dsp:nvSpPr>
      <dsp:spPr>
        <a:xfrm>
          <a:off x="487097" y="548924"/>
          <a:ext cx="1475437" cy="147543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31C573-1ED3-4C5A-8ACD-F99EFAFAF1C0}">
      <dsp:nvSpPr>
        <dsp:cNvPr id="0" name=""/>
        <dsp:cNvSpPr/>
      </dsp:nvSpPr>
      <dsp:spPr>
        <a:xfrm>
          <a:off x="801534" y="863361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3194F-F9AF-4557-98F8-A5A870348AB8}">
      <dsp:nvSpPr>
        <dsp:cNvPr id="0" name=""/>
        <dsp:cNvSpPr/>
      </dsp:nvSpPr>
      <dsp:spPr>
        <a:xfrm>
          <a:off x="15440" y="2483924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/>
            <a:t>Sub-text:</a:t>
          </a:r>
          <a:r>
            <a:rPr lang="en-US" sz="1400" kern="1200"/>
            <a:t> Stop using static charts. Start building interactive stories.</a:t>
          </a:r>
        </a:p>
      </dsp:txBody>
      <dsp:txXfrm>
        <a:off x="15440" y="2483924"/>
        <a:ext cx="2418750" cy="720000"/>
      </dsp:txXfrm>
    </dsp:sp>
    <dsp:sp modelId="{3DCDCC93-247C-435F-A90D-A06002E332CE}">
      <dsp:nvSpPr>
        <dsp:cNvPr id="0" name=""/>
        <dsp:cNvSpPr/>
      </dsp:nvSpPr>
      <dsp:spPr>
        <a:xfrm>
          <a:off x="3329128" y="548924"/>
          <a:ext cx="1475437" cy="147543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A75733-862B-4AA0-8F32-B29B2D667BFF}">
      <dsp:nvSpPr>
        <dsp:cNvPr id="0" name=""/>
        <dsp:cNvSpPr/>
      </dsp:nvSpPr>
      <dsp:spPr>
        <a:xfrm>
          <a:off x="3643565" y="863361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DEC98-3B7E-486A-BF85-F4E144324EAA}">
      <dsp:nvSpPr>
        <dsp:cNvPr id="0" name=""/>
        <dsp:cNvSpPr/>
      </dsp:nvSpPr>
      <dsp:spPr>
        <a:xfrm>
          <a:off x="2857472" y="2483924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/>
            <a:t>Call to Action:</a:t>
          </a:r>
          <a:r>
            <a:rPr lang="en-US" sz="1400" kern="1200"/>
            <a:t> Try the Smart Chart Builder Tool now!</a:t>
          </a:r>
        </a:p>
      </dsp:txBody>
      <dsp:txXfrm>
        <a:off x="2857472" y="2483924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58F87-6CBC-A702-E1F8-5D5CBE6AB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13C71-D981-F7C3-0FCE-531C18F73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92F2E-CC5F-F963-9541-C454E7AA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71D59-7E50-8A31-E482-449B43717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954E5-1B03-A317-FC58-9BAADBC0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36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3C2F6-38FA-D144-800E-64EF444CF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80408-E8D5-64B6-24D6-EF1C8400E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2DDCA-42A4-F76D-54C0-FD150BBF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B836C-B7FB-11E8-D9A9-080316AB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26663-C786-3DE6-5D82-8A61B462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2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4E04-1267-4807-423F-DE79122FB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AD988-FCDF-8AEE-5947-9EA8ACE28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8B28E-436F-19D6-1EA7-38670A51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6DA05-55A7-477F-DF07-28FE908D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C34D6-8D7F-6EFE-EAA9-3330BBD8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11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93CE-C731-1537-23F6-6650CBC64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D3A99-2E88-3729-557B-941A22512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9103A-ABD0-2DE7-ED15-C66FA2B4F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A70A0-F01D-4990-821A-2E0A6FAB6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78A3A-99A7-D88E-E8E8-41E65CD0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5316F-91B6-E1C5-F418-EDCFC107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9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E102C-2699-3284-F8A9-C5DB5139D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B3D94-95C5-678F-98BF-DE1CDCADB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5FE63-27D5-C44A-72AA-9DE0FA179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00114-73C7-6236-69F4-E628D3D0B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82929-4639-72EA-4EDC-C3E786BED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C4032-08B7-B275-98C0-AED0EA03A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6FB09-50AF-5C59-B020-8CE88988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7DDFF-FC72-BAA2-59A7-100578150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56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D293F-D5C8-1F7F-6CA1-524744DFD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1246C-6B41-95E8-34B7-89F21680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0673F-D584-87D4-6406-B3274279D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9858A-D148-0219-1832-9E937CA2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93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FB7815-BBA7-558C-4FF4-9A54B9A33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0ADCD-872B-51CB-C22D-83370C5B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86792-99DD-081D-7B0B-632DA3ED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28B17-3F24-3E7F-EF84-1A46976B6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ED2E9-0A06-46BF-7C74-65718AB3F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41BE4-278D-15E3-B308-5F9AD77E1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D913F-A581-2759-0898-8AB2A49B7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6A8B6-38F6-196D-33C6-5AA88AEE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631AD-5FD1-0238-9C39-205ADD7C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9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9039-B2AB-6C4D-5363-7A10E153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9EF302-E8B2-4DC4-4010-7E5F5DD18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340B0-F0F6-549F-7400-6BAA0254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8B190-41C5-9855-0F2E-5B39C62C1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6ECB8-9237-F47D-82DB-089D2BA2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4E8F0-83DE-C10E-D330-CD625642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A5E0-EC7F-BDA6-C604-2AF47F334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C92556-9E2E-D6CF-92FC-8F704DE67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945FF-C6F6-5FAC-B1AE-68AFBE27F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16D1D-2F30-3DB5-C64A-BC576D05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EF5-260F-8426-7E22-D0FF3651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4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B45D98-6B50-B07B-9627-3F43ADC8D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0AA9E-FF46-0583-AF67-3EC3E7CF7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66523-226A-F0E8-90CC-B168E4DD5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80F8D-2FE4-10A3-A7E7-F4C69BEB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A358A-6555-A3D6-5E27-5E6015FA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73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97F86-B0A8-78BF-4952-E0D5333F6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27538-18A5-90DF-8B0C-49C43232D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EC0BA-8CE6-0013-610C-0C23DD9A94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C3647-2C25-4BAC-BF59-14907E8503E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6CAAF-4B70-C937-EB3E-5040A7B6B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46F0-F61E-05A5-0F68-779C7665F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DD40A-E5B8-4D9C-B0CB-A35C7449F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0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3D Hologram from iPad">
            <a:extLst>
              <a:ext uri="{FF2B5EF4-FFF2-40B4-BE49-F238E27FC236}">
                <a16:creationId xmlns:a16="http://schemas.microsoft.com/office/drawing/2014/main" id="{76A3D28F-5332-04DA-5E13-92264BF36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2" r="24127" b="-1"/>
          <a:stretch>
            <a:fillRect/>
          </a:stretch>
        </p:blipFill>
        <p:spPr>
          <a:xfrm>
            <a:off x="5101771" y="10"/>
            <a:ext cx="7094361" cy="685798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34066D6-1B59-4642-A86D-39464CEE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18E928D9-3091-4385-B979-265D55AD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B0F61-9832-0F38-8A2D-2B852F196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795509"/>
            <a:ext cx="4092525" cy="279860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Smart Chart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D602432-D774-4CF5-94E8-7D52D010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A1C26F-1999-5663-CD7D-DE8A4F34A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3686187"/>
            <a:ext cx="4092525" cy="229258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Transform Static Excel Data into Dynamic Web Visuals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F9EBB4-5078-47B2-AAA0-DF4A88D81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62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F81B6E-DEB5-17AD-6D7B-EFD53F352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/>
              <a:t>The Limitation of Standard Excel 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9623B-55D0-CC68-A4CB-D404D29F2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700" b="1"/>
              <a:t>Bullet Points:</a:t>
            </a:r>
            <a:endParaRPr lang="en-US" sz="1700"/>
          </a:p>
          <a:p>
            <a:pPr lvl="1"/>
            <a:r>
              <a:rPr lang="en-US" sz="1700"/>
              <a:t>❌ </a:t>
            </a:r>
            <a:r>
              <a:rPr lang="en-US" sz="1700" b="1"/>
              <a:t>Static Images:</a:t>
            </a:r>
            <a:r>
              <a:rPr lang="en-US" sz="1700"/>
              <a:t> Standard charts lose interactivity when emailed or pasted into PPT.</a:t>
            </a:r>
          </a:p>
          <a:p>
            <a:pPr lvl="1"/>
            <a:r>
              <a:rPr lang="en-US" sz="1700"/>
              <a:t>❌ </a:t>
            </a:r>
            <a:r>
              <a:rPr lang="en-US" sz="1700" b="1"/>
              <a:t>Sharing Issues:</a:t>
            </a:r>
            <a:r>
              <a:rPr lang="en-US" sz="1700"/>
              <a:t> You have to send the entire workbook just to show one chart.</a:t>
            </a:r>
          </a:p>
          <a:p>
            <a:pPr lvl="1"/>
            <a:r>
              <a:rPr lang="en-US" sz="1700"/>
              <a:t>❌ </a:t>
            </a:r>
            <a:r>
              <a:rPr lang="en-US" sz="1700" b="1"/>
              <a:t>Limited Design:</a:t>
            </a:r>
            <a:r>
              <a:rPr lang="en-US" sz="1700"/>
              <a:t> Switching between "Light" and "Dark" themes is complex.</a:t>
            </a:r>
          </a:p>
          <a:p>
            <a:pPr lvl="1"/>
            <a:r>
              <a:rPr lang="en-US" sz="1700"/>
              <a:t>❌ </a:t>
            </a:r>
            <a:r>
              <a:rPr lang="en-US" sz="1700" b="1"/>
              <a:t>No Web Integration:</a:t>
            </a:r>
            <a:r>
              <a:rPr lang="en-US" sz="1700"/>
              <a:t> Impossible to embed directly into websites or dashboards.</a:t>
            </a:r>
          </a:p>
        </p:txBody>
      </p:sp>
      <p:pic>
        <p:nvPicPr>
          <p:cNvPr id="12" name="Picture 11" descr="Graph">
            <a:extLst>
              <a:ext uri="{FF2B5EF4-FFF2-40B4-BE49-F238E27FC236}">
                <a16:creationId xmlns:a16="http://schemas.microsoft.com/office/drawing/2014/main" id="{0D0680C4-4B34-290E-FA9A-371B7C4E9E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58" r="2782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492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3C34F-8539-633D-47D4-7329CE994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Next-Gen Visualization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A61E8-E00B-01B9-503B-A095EDBF5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 b="1"/>
              <a:t>Key Capabilities:</a:t>
            </a:r>
            <a:endParaRPr lang="en-US" sz="1900"/>
          </a:p>
          <a:p>
            <a:pPr lvl="1"/>
            <a:r>
              <a:rPr lang="en-US" sz="1900"/>
              <a:t>✨ </a:t>
            </a:r>
            <a:r>
              <a:rPr lang="en-US" sz="1900" b="1"/>
              <a:t>Instant HTML Generation:</a:t>
            </a:r>
            <a:r>
              <a:rPr lang="en-US" sz="1900"/>
              <a:t> Creates a standalone web file in 1 click.</a:t>
            </a:r>
          </a:p>
          <a:p>
            <a:pPr lvl="1"/>
            <a:r>
              <a:rPr lang="en-US" sz="1900"/>
              <a:t>🎨 </a:t>
            </a:r>
            <a:r>
              <a:rPr lang="en-US" sz="1900" b="1"/>
              <a:t>Theme Engine:</a:t>
            </a:r>
            <a:r>
              <a:rPr lang="en-US" sz="1900"/>
              <a:t> Built-in </a:t>
            </a:r>
            <a:r>
              <a:rPr lang="en-US" sz="1900" b="1"/>
              <a:t>Light</a:t>
            </a:r>
            <a:r>
              <a:rPr lang="en-US" sz="1900"/>
              <a:t> &amp; </a:t>
            </a:r>
            <a:r>
              <a:rPr lang="en-US" sz="1900" b="1"/>
              <a:t>Dark</a:t>
            </a:r>
            <a:r>
              <a:rPr lang="en-US" sz="1900"/>
              <a:t> modes for modern presentation.</a:t>
            </a:r>
          </a:p>
          <a:p>
            <a:pPr lvl="1"/>
            <a:r>
              <a:rPr lang="en-US" sz="1900"/>
              <a:t>🖱️ </a:t>
            </a:r>
            <a:r>
              <a:rPr lang="en-US" sz="1900" b="1"/>
              <a:t>Full Interactivity:</a:t>
            </a:r>
            <a:r>
              <a:rPr lang="en-US" sz="1900"/>
              <a:t> Zoom, Pan, and Filter data directly in the browser.</a:t>
            </a:r>
          </a:p>
          <a:p>
            <a:pPr lvl="1"/>
            <a:r>
              <a:rPr lang="en-US" sz="1900"/>
              <a:t>🔄 </a:t>
            </a:r>
            <a:r>
              <a:rPr lang="en-US" sz="1900" b="1"/>
              <a:t>Dual Output:</a:t>
            </a:r>
            <a:r>
              <a:rPr lang="en-US" sz="1900"/>
              <a:t> Generates both visual </a:t>
            </a:r>
            <a:r>
              <a:rPr lang="en-US" sz="1900" b="1"/>
              <a:t>HTML</a:t>
            </a:r>
            <a:r>
              <a:rPr lang="en-US" sz="1900"/>
              <a:t> and raw </a:t>
            </a:r>
            <a:r>
              <a:rPr lang="en-US" sz="1900" b="1"/>
              <a:t>JSON</a:t>
            </a:r>
            <a:r>
              <a:rPr lang="en-US" sz="1900"/>
              <a:t> data.</a:t>
            </a:r>
          </a:p>
        </p:txBody>
      </p:sp>
      <p:pic>
        <p:nvPicPr>
          <p:cNvPr id="12" name="Picture 11" descr="Abstract background">
            <a:extLst>
              <a:ext uri="{FF2B5EF4-FFF2-40B4-BE49-F238E27FC236}">
                <a16:creationId xmlns:a16="http://schemas.microsoft.com/office/drawing/2014/main" id="{C91DC8A2-CC41-9102-32FD-195A58936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080" r="3527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2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72E3D-2004-862F-452E-A7CA51008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Versatile Visualization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26559-5140-3E1A-F26A-B5D4A5303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700" b="1"/>
              <a:t>List:</a:t>
            </a:r>
            <a:endParaRPr lang="en-US" sz="1700"/>
          </a:p>
          <a:p>
            <a:pPr lvl="1"/>
            <a:r>
              <a:rPr lang="en-US" sz="1700"/>
              <a:t>📊 </a:t>
            </a:r>
            <a:r>
              <a:rPr lang="en-US" sz="1700" b="1"/>
              <a:t>Clustered Column:</a:t>
            </a:r>
            <a:r>
              <a:rPr lang="en-US" sz="1700"/>
              <a:t> Best for comparing categories.</a:t>
            </a:r>
          </a:p>
          <a:p>
            <a:pPr lvl="1"/>
            <a:r>
              <a:rPr lang="en-US" sz="1700"/>
              <a:t>📉 </a:t>
            </a:r>
            <a:r>
              <a:rPr lang="en-US" sz="1700" b="1"/>
              <a:t>Clustered Bar:</a:t>
            </a:r>
            <a:r>
              <a:rPr lang="en-US" sz="1700"/>
              <a:t> Great for long labels and ranking.</a:t>
            </a:r>
          </a:p>
          <a:p>
            <a:pPr lvl="1"/>
            <a:r>
              <a:rPr lang="en-US" sz="1700"/>
              <a:t>📈 </a:t>
            </a:r>
            <a:r>
              <a:rPr lang="en-US" sz="1700" b="1"/>
              <a:t>Line Chart:</a:t>
            </a:r>
            <a:r>
              <a:rPr lang="en-US" sz="1700"/>
              <a:t> Perfect for trends over time.</a:t>
            </a:r>
          </a:p>
          <a:p>
            <a:pPr lvl="1"/>
            <a:r>
              <a:rPr lang="en-US" sz="1700"/>
              <a:t>🗻 </a:t>
            </a:r>
            <a:r>
              <a:rPr lang="en-US" sz="1700" b="1"/>
              <a:t>Area Chart:</a:t>
            </a:r>
            <a:r>
              <a:rPr lang="en-US" sz="1700"/>
              <a:t> Visualizing volume and trends.</a:t>
            </a:r>
          </a:p>
          <a:p>
            <a:pPr lvl="1"/>
            <a:r>
              <a:rPr lang="en-US" sz="1700"/>
              <a:t>🍕 </a:t>
            </a:r>
            <a:r>
              <a:rPr lang="en-US" sz="1700" b="1"/>
              <a:t>Pie Chart:</a:t>
            </a:r>
            <a:r>
              <a:rPr lang="en-US" sz="1700"/>
              <a:t> Part-to-whole analysis.</a:t>
            </a:r>
          </a:p>
          <a:p>
            <a:pPr lvl="1"/>
            <a:r>
              <a:rPr lang="en-US" sz="1700"/>
              <a:t>🕸️ </a:t>
            </a:r>
            <a:r>
              <a:rPr lang="en-US" sz="1700" b="1"/>
              <a:t>Radar Chart:</a:t>
            </a:r>
            <a:r>
              <a:rPr lang="en-US" sz="1700"/>
              <a:t> Performance analysis.</a:t>
            </a:r>
          </a:p>
        </p:txBody>
      </p:sp>
      <p:pic>
        <p:nvPicPr>
          <p:cNvPr id="12" name="Picture 11" descr="Magnifying glass showing decling performance">
            <a:extLst>
              <a:ext uri="{FF2B5EF4-FFF2-40B4-BE49-F238E27FC236}">
                <a16:creationId xmlns:a16="http://schemas.microsoft.com/office/drawing/2014/main" id="{61A4A15F-5A9B-BAFF-6E9E-D8F96BD63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" r="3558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138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9C45C-F862-D04B-0D41-BC3BB488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Designed for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B4A12-17EA-C92C-9A2E-2D8409DAD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b="1"/>
              <a:t>Features:</a:t>
            </a:r>
            <a:endParaRPr lang="en-US" sz="2000"/>
          </a:p>
          <a:p>
            <a:pPr lvl="1"/>
            <a:r>
              <a:rPr lang="en-US" sz="2000" b="1"/>
              <a:t>Range Picker:</a:t>
            </a:r>
            <a:r>
              <a:rPr lang="en-US" sz="2000"/>
              <a:t> One-click buttons to select Label and Data ranges.</a:t>
            </a:r>
          </a:p>
          <a:p>
            <a:pPr lvl="1"/>
            <a:r>
              <a:rPr lang="en-US" sz="2000" b="1"/>
              <a:t>Currency Support:</a:t>
            </a:r>
            <a:r>
              <a:rPr lang="en-US" sz="2000"/>
              <a:t> Auto-format values with </a:t>
            </a:r>
            <a:r>
              <a:rPr lang="en-US" sz="2000" b="1"/>
              <a:t>$</a:t>
            </a:r>
            <a:r>
              <a:rPr lang="en-US" sz="2000"/>
              <a:t> or </a:t>
            </a:r>
            <a:r>
              <a:rPr lang="en-US" sz="2000" b="1"/>
              <a:t>₹ (Rupee)</a:t>
            </a:r>
            <a:r>
              <a:rPr lang="en-US" sz="2000"/>
              <a:t>.</a:t>
            </a:r>
          </a:p>
          <a:p>
            <a:pPr lvl="1"/>
            <a:r>
              <a:rPr lang="en-US" sz="2000" b="1"/>
              <a:t>Customization:</a:t>
            </a:r>
            <a:r>
              <a:rPr lang="en-US" sz="2000"/>
              <a:t> Toggle Gridlines and define Axis titles instantly.</a:t>
            </a:r>
          </a:p>
          <a:p>
            <a:pPr lvl="1"/>
            <a:r>
              <a:rPr lang="en-US" sz="2000" b="1"/>
              <a:t>Sample Data:</a:t>
            </a:r>
            <a:r>
              <a:rPr lang="en-US" sz="2000"/>
              <a:t> Built-in "Add Sample" feature for quick testing.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12" name="Picture 11" descr="Graph">
            <a:extLst>
              <a:ext uri="{FF2B5EF4-FFF2-40B4-BE49-F238E27FC236}">
                <a16:creationId xmlns:a16="http://schemas.microsoft.com/office/drawing/2014/main" id="{F6F65A9D-38C5-E1BC-8651-AC96FF4729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58" r="2782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37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EB70C-7D4F-B2FA-76B5-1382978D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More Than Just a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2E9DB-56FB-04D0-E24A-76EDC37B6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 b="1"/>
              <a:t>Description:</a:t>
            </a:r>
            <a:r>
              <a:rPr lang="en-US" sz="1900"/>
              <a:t> The generated HTML chart includes a powerful toolbox.</a:t>
            </a:r>
          </a:p>
          <a:p>
            <a:r>
              <a:rPr lang="en-US" sz="1900" b="1"/>
              <a:t>Interactive Features:</a:t>
            </a:r>
            <a:endParaRPr lang="en-US" sz="1900"/>
          </a:p>
          <a:p>
            <a:pPr lvl="1"/>
            <a:r>
              <a:rPr lang="en-US" sz="1900"/>
              <a:t>✏️ </a:t>
            </a:r>
            <a:r>
              <a:rPr lang="en-US" sz="1900" b="1"/>
              <a:t>Live Editing:</a:t>
            </a:r>
            <a:r>
              <a:rPr lang="en-US" sz="1900"/>
              <a:t> Users can rename the Title and Axis labels directly in the browser.</a:t>
            </a:r>
          </a:p>
          <a:p>
            <a:pPr lvl="1"/>
            <a:r>
              <a:rPr lang="en-US" sz="1900"/>
              <a:t>💾 </a:t>
            </a:r>
            <a:r>
              <a:rPr lang="en-US" sz="1900" b="1"/>
              <a:t>Save as Image:</a:t>
            </a:r>
            <a:r>
              <a:rPr lang="en-US" sz="1900"/>
              <a:t> Download the chart as a high-quality PNG.</a:t>
            </a:r>
          </a:p>
          <a:p>
            <a:pPr lvl="1"/>
            <a:r>
              <a:rPr lang="en-US" sz="1900"/>
              <a:t>🔍 </a:t>
            </a:r>
            <a:r>
              <a:rPr lang="en-US" sz="1900" b="1"/>
              <a:t>Data View:</a:t>
            </a:r>
            <a:r>
              <a:rPr lang="en-US" sz="1900"/>
              <a:t> Flip the chart to see the raw data table behind it.</a:t>
            </a:r>
          </a:p>
          <a:p>
            <a:pPr lvl="1"/>
            <a:r>
              <a:rPr lang="en-US" sz="1900"/>
              <a:t>🔎 </a:t>
            </a:r>
            <a:r>
              <a:rPr lang="en-US" sz="1900" b="1"/>
              <a:t>Zoom:</a:t>
            </a:r>
            <a:r>
              <a:rPr lang="en-US" sz="1900"/>
              <a:t> Drag to zoom into specific data points.</a:t>
            </a:r>
          </a:p>
        </p:txBody>
      </p:sp>
      <p:pic>
        <p:nvPicPr>
          <p:cNvPr id="12" name="Picture 11" descr="Financial graphs on a dark display">
            <a:extLst>
              <a:ext uri="{FF2B5EF4-FFF2-40B4-BE49-F238E27FC236}">
                <a16:creationId xmlns:a16="http://schemas.microsoft.com/office/drawing/2014/main" id="{0AA67ED2-C405-B265-E5B9-74D0F4B66A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87" r="2509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2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Blue blocks and networks technology background">
            <a:extLst>
              <a:ext uri="{FF2B5EF4-FFF2-40B4-BE49-F238E27FC236}">
                <a16:creationId xmlns:a16="http://schemas.microsoft.com/office/drawing/2014/main" id="{003F100D-3D81-989E-A4C9-8F674751E6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73" r="40484" b="-446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32182E-E5D8-AB9C-B04D-35E41B9B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How It Works (Under the Hood)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D7527-0164-103F-3FE6-DD93BDBA9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US" sz="1700" b="1"/>
              <a:t>Technical Workflow:</a:t>
            </a:r>
            <a:endParaRPr lang="en-US" sz="1700"/>
          </a:p>
          <a:p>
            <a:pPr lvl="1"/>
            <a:r>
              <a:rPr lang="en-US" sz="1700" b="1"/>
              <a:t>Parsing:</a:t>
            </a:r>
            <a:r>
              <a:rPr lang="en-US" sz="1700"/>
              <a:t> VBA reads Excel ranges and handles mismatching data/label counts.</a:t>
            </a:r>
          </a:p>
          <a:p>
            <a:pPr lvl="1"/>
            <a:r>
              <a:rPr lang="en-US" sz="1700" b="1"/>
              <a:t>Processing:</a:t>
            </a:r>
            <a:r>
              <a:rPr lang="en-US" sz="1700"/>
              <a:t> Converts data into JavaScript arrays and JSON structure.</a:t>
            </a:r>
          </a:p>
          <a:p>
            <a:pPr lvl="1"/>
            <a:r>
              <a:rPr lang="en-US" sz="1700" b="1"/>
              <a:t>Rendering:</a:t>
            </a:r>
            <a:r>
              <a:rPr lang="en-US" sz="1700"/>
              <a:t> Uses </a:t>
            </a:r>
            <a:r>
              <a:rPr lang="en-US" sz="1700" b="1"/>
              <a:t>ECharts (Apache)</a:t>
            </a:r>
            <a:r>
              <a:rPr lang="en-US" sz="1700"/>
              <a:t> library for high-performance rendering.</a:t>
            </a:r>
          </a:p>
          <a:p>
            <a:pPr lvl="1"/>
            <a:r>
              <a:rPr lang="en-US" sz="1700" b="1"/>
              <a:t>Exporting:</a:t>
            </a:r>
            <a:endParaRPr lang="en-US" sz="1700"/>
          </a:p>
          <a:p>
            <a:pPr lvl="2"/>
            <a:r>
              <a:rPr lang="en-US" sz="1700" b="1"/>
              <a:t>.html</a:t>
            </a:r>
            <a:r>
              <a:rPr lang="en-US" sz="1700"/>
              <a:t>: For visual presentation.</a:t>
            </a:r>
          </a:p>
          <a:p>
            <a:pPr lvl="2"/>
            <a:r>
              <a:rPr lang="en-US" sz="1700" b="1"/>
              <a:t>.json</a:t>
            </a:r>
            <a:r>
              <a:rPr lang="en-US" sz="1700"/>
              <a:t>: For developers/dashboard integration.</a:t>
            </a:r>
          </a:p>
        </p:txBody>
      </p:sp>
    </p:spTree>
    <p:extLst>
      <p:ext uri="{BB962C8B-B14F-4D97-AF65-F5344CB8AC3E}">
        <p14:creationId xmlns:p14="http://schemas.microsoft.com/office/powerpoint/2010/main" val="3006584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Financial graphs on a dark display">
            <a:extLst>
              <a:ext uri="{FF2B5EF4-FFF2-40B4-BE49-F238E27FC236}">
                <a16:creationId xmlns:a16="http://schemas.microsoft.com/office/drawing/2014/main" id="{D65AC5F7-9105-BBBD-8196-F5CDAB2DF3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50" r="25159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416FC-24AC-64A8-9A28-68A057F57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Create a Chart in 4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9229D-4AC4-7C16-237C-B8764C378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r>
              <a:rPr lang="en-US" sz="2000" b="1"/>
              <a:t>Select:</a:t>
            </a:r>
            <a:r>
              <a:rPr lang="en-US" sz="2000"/>
              <a:t> Choose your Chart Type (e.g., Clustered Bar).</a:t>
            </a:r>
          </a:p>
          <a:p>
            <a:r>
              <a:rPr lang="en-US" sz="2000" b="1"/>
              <a:t>Pick:</a:t>
            </a:r>
            <a:r>
              <a:rPr lang="en-US" sz="2000"/>
              <a:t> Select your Labels (Names) and Data (Numbers).</a:t>
            </a:r>
          </a:p>
          <a:p>
            <a:r>
              <a:rPr lang="en-US" sz="2000" b="1"/>
              <a:t>Style:</a:t>
            </a:r>
            <a:r>
              <a:rPr lang="en-US" sz="2000"/>
              <a:t> Choose Theme (Dark/Light) and Currency.</a:t>
            </a:r>
          </a:p>
          <a:p>
            <a:r>
              <a:rPr lang="en-US" sz="2000" b="1"/>
              <a:t>Create:</a:t>
            </a:r>
            <a:r>
              <a:rPr lang="en-US" sz="2000"/>
              <a:t> Click "Create Chart" to open it instantly in Chrome/Edge.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99072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82F449-76BC-EA14-1D8C-6EE2774E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Perfect For...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28FB5-B8CC-7197-8BC5-37C3A010D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b="1"/>
              <a:t>Scenarios:</a:t>
            </a:r>
            <a:endParaRPr lang="en-US" sz="2000"/>
          </a:p>
          <a:p>
            <a:pPr lvl="1"/>
            <a:r>
              <a:rPr lang="en-US" sz="2000" b="1"/>
              <a:t>Management Reporting:</a:t>
            </a:r>
            <a:r>
              <a:rPr lang="en-US" sz="2000"/>
              <a:t> Send a single HTML file instead of a heavy workbook.</a:t>
            </a:r>
          </a:p>
          <a:p>
            <a:pPr lvl="1"/>
            <a:r>
              <a:rPr lang="en-US" sz="2000" b="1"/>
              <a:t>Web Dashboards:</a:t>
            </a:r>
            <a:r>
              <a:rPr lang="en-US" sz="2000"/>
              <a:t> Use the generated JSON code to plug into company websites.</a:t>
            </a:r>
          </a:p>
          <a:p>
            <a:pPr lvl="1"/>
            <a:r>
              <a:rPr lang="en-US" sz="2000" b="1"/>
              <a:t>Presentations:</a:t>
            </a:r>
            <a:r>
              <a:rPr lang="en-US" sz="2000"/>
              <a:t> Switch to "Dark Mode" charts for modern projector screens.</a:t>
            </a:r>
          </a:p>
          <a:p>
            <a:pPr lvl="1"/>
            <a:r>
              <a:rPr lang="en-US" sz="2000" b="1"/>
              <a:t>Financial Analysis:</a:t>
            </a:r>
            <a:r>
              <a:rPr lang="en-US" sz="2000"/>
              <a:t> Auto-formatted currency visuals (₹ / $).</a:t>
            </a:r>
          </a:p>
        </p:txBody>
      </p:sp>
      <p:pic>
        <p:nvPicPr>
          <p:cNvPr id="12" name="Picture 11" descr="Digital financial graph">
            <a:extLst>
              <a:ext uri="{FF2B5EF4-FFF2-40B4-BE49-F238E27FC236}">
                <a16:creationId xmlns:a16="http://schemas.microsoft.com/office/drawing/2014/main" id="{C37775F6-B22B-01AD-4168-32736A7486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02" r="20515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9887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9F96-2C4E-3914-07F5-2B313C4A4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US" sz="4000"/>
              <a:t>Visualize Data Like a Pro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85B954-FA3D-F766-34F8-692C2BE2DA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47" r="2164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735EB8EC-E9D0-0BE7-6FBF-B59BFFC313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4214369"/>
              </p:ext>
            </p:extLst>
          </p:nvPr>
        </p:nvGraphicFramePr>
        <p:xfrm>
          <a:off x="6417734" y="2614612"/>
          <a:ext cx="5291663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6471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543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Smart Chart</vt:lpstr>
      <vt:lpstr>The Limitation of Standard Excel Charts</vt:lpstr>
      <vt:lpstr>Next-Gen Visualization Tool</vt:lpstr>
      <vt:lpstr>Versatile Visualization Options</vt:lpstr>
      <vt:lpstr>Designed for Efficiency</vt:lpstr>
      <vt:lpstr>More Than Just a Picture</vt:lpstr>
      <vt:lpstr>How It Works (Under the Hood)</vt:lpstr>
      <vt:lpstr>Create a Chart in 4 Steps</vt:lpstr>
      <vt:lpstr>Perfect For...</vt:lpstr>
      <vt:lpstr>Visualize Data Like a Pro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Jangir</dc:creator>
  <cp:lastModifiedBy>Sachin Jangir</cp:lastModifiedBy>
  <cp:revision>1</cp:revision>
  <dcterms:created xsi:type="dcterms:W3CDTF">2026-01-24T05:35:42Z</dcterms:created>
  <dcterms:modified xsi:type="dcterms:W3CDTF">2026-01-24T05:46:20Z</dcterms:modified>
</cp:coreProperties>
</file>