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04567B-6B6D-430A-8083-20FD1B7DE7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05BADE-6408-423E-988F-24812AD0F8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Speed:</a:t>
          </a:r>
          <a:r>
            <a:rPr lang="en-US"/>
            <a:t> Tasks that took hours now take seconds.</a:t>
          </a:r>
        </a:p>
      </dgm:t>
    </dgm:pt>
    <dgm:pt modelId="{5D2AF903-9A05-407C-AAEC-CDA58DC4BB2B}" type="parTrans" cxnId="{785D9154-C13A-4BBA-8F47-D11839175198}">
      <dgm:prSet/>
      <dgm:spPr/>
      <dgm:t>
        <a:bodyPr/>
        <a:lstStyle/>
        <a:p>
          <a:endParaRPr lang="en-US"/>
        </a:p>
      </dgm:t>
    </dgm:pt>
    <dgm:pt modelId="{C0BF949B-38CF-4C9D-9895-757C39D22BFC}" type="sibTrans" cxnId="{785D9154-C13A-4BBA-8F47-D11839175198}">
      <dgm:prSet/>
      <dgm:spPr/>
      <dgm:t>
        <a:bodyPr/>
        <a:lstStyle/>
        <a:p>
          <a:endParaRPr lang="en-US"/>
        </a:p>
      </dgm:t>
    </dgm:pt>
    <dgm:pt modelId="{16EA7067-14CE-4480-8495-34FDAF1DE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Simplicity:</a:t>
          </a:r>
          <a:r>
            <a:rPr lang="en-US"/>
            <a:t> No coding required, just plain English.</a:t>
          </a:r>
        </a:p>
      </dgm:t>
    </dgm:pt>
    <dgm:pt modelId="{18BEF8EA-9BE0-4214-9AE3-489DAE1973A1}" type="parTrans" cxnId="{B72E61D1-F1ED-4E5C-9ECF-E0D98AB99A1B}">
      <dgm:prSet/>
      <dgm:spPr/>
      <dgm:t>
        <a:bodyPr/>
        <a:lstStyle/>
        <a:p>
          <a:endParaRPr lang="en-US"/>
        </a:p>
      </dgm:t>
    </dgm:pt>
    <dgm:pt modelId="{5095772D-0CC6-4469-8FAF-F0CDC1CCA460}" type="sibTrans" cxnId="{B72E61D1-F1ED-4E5C-9ECF-E0D98AB99A1B}">
      <dgm:prSet/>
      <dgm:spPr/>
      <dgm:t>
        <a:bodyPr/>
        <a:lstStyle/>
        <a:p>
          <a:endParaRPr lang="en-US"/>
        </a:p>
      </dgm:t>
    </dgm:pt>
    <dgm:pt modelId="{B2EC10F7-72EC-4E03-B7C1-271B742ED5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Power:</a:t>
          </a:r>
          <a:r>
            <a:rPr lang="en-US"/>
            <a:t> Combines the flexibility of Excel with the intelligence of AI.</a:t>
          </a:r>
        </a:p>
      </dgm:t>
    </dgm:pt>
    <dgm:pt modelId="{4FDF59D3-D238-4B11-8091-AA7B669B1EBE}" type="parTrans" cxnId="{63BFE1BD-D5A7-4884-9FEC-97572A25F492}">
      <dgm:prSet/>
      <dgm:spPr/>
      <dgm:t>
        <a:bodyPr/>
        <a:lstStyle/>
        <a:p>
          <a:endParaRPr lang="en-US"/>
        </a:p>
      </dgm:t>
    </dgm:pt>
    <dgm:pt modelId="{C8E6F751-20AB-4306-9A06-A8FA7BB040F7}" type="sibTrans" cxnId="{63BFE1BD-D5A7-4884-9FEC-97572A25F492}">
      <dgm:prSet/>
      <dgm:spPr/>
      <dgm:t>
        <a:bodyPr/>
        <a:lstStyle/>
        <a:p>
          <a:endParaRPr lang="en-US"/>
        </a:p>
      </dgm:t>
    </dgm:pt>
    <dgm:pt modelId="{C119E5B1-5F36-47FC-92B2-F3EAC5037164}" type="pres">
      <dgm:prSet presAssocID="{8804567B-6B6D-430A-8083-20FD1B7DE712}" presName="root" presStyleCnt="0">
        <dgm:presLayoutVars>
          <dgm:dir/>
          <dgm:resizeHandles val="exact"/>
        </dgm:presLayoutVars>
      </dgm:prSet>
      <dgm:spPr/>
    </dgm:pt>
    <dgm:pt modelId="{DEF94C0B-76DB-4D8A-8372-88C648252028}" type="pres">
      <dgm:prSet presAssocID="{2C05BADE-6408-423E-988F-24812AD0F81D}" presName="compNode" presStyleCnt="0"/>
      <dgm:spPr/>
    </dgm:pt>
    <dgm:pt modelId="{24F697BB-07AA-4D66-AD83-39B876D7EF7E}" type="pres">
      <dgm:prSet presAssocID="{2C05BADE-6408-423E-988F-24812AD0F81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C9C6A16-F1A8-4B31-8913-287E0D388FA3}" type="pres">
      <dgm:prSet presAssocID="{2C05BADE-6408-423E-988F-24812AD0F81D}" presName="spaceRect" presStyleCnt="0"/>
      <dgm:spPr/>
    </dgm:pt>
    <dgm:pt modelId="{B248EA2F-659D-4417-B385-17FE51301D84}" type="pres">
      <dgm:prSet presAssocID="{2C05BADE-6408-423E-988F-24812AD0F81D}" presName="textRect" presStyleLbl="revTx" presStyleIdx="0" presStyleCnt="3">
        <dgm:presLayoutVars>
          <dgm:chMax val="1"/>
          <dgm:chPref val="1"/>
        </dgm:presLayoutVars>
      </dgm:prSet>
      <dgm:spPr/>
    </dgm:pt>
    <dgm:pt modelId="{3522BC5C-2BD7-4F2A-9EDC-F3CFC4994A01}" type="pres">
      <dgm:prSet presAssocID="{C0BF949B-38CF-4C9D-9895-757C39D22BFC}" presName="sibTrans" presStyleCnt="0"/>
      <dgm:spPr/>
    </dgm:pt>
    <dgm:pt modelId="{93802341-E0AC-4791-A45E-63E8B5531CA1}" type="pres">
      <dgm:prSet presAssocID="{16EA7067-14CE-4480-8495-34FDAF1DE618}" presName="compNode" presStyleCnt="0"/>
      <dgm:spPr/>
    </dgm:pt>
    <dgm:pt modelId="{49E7A5F7-B274-4CDB-949B-85BAD51446AF}" type="pres">
      <dgm:prSet presAssocID="{16EA7067-14CE-4480-8495-34FDAF1DE61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3EEFF41-F866-44A9-8424-6C44B8415A55}" type="pres">
      <dgm:prSet presAssocID="{16EA7067-14CE-4480-8495-34FDAF1DE618}" presName="spaceRect" presStyleCnt="0"/>
      <dgm:spPr/>
    </dgm:pt>
    <dgm:pt modelId="{9124475C-744C-4F3E-982F-8EB567881E01}" type="pres">
      <dgm:prSet presAssocID="{16EA7067-14CE-4480-8495-34FDAF1DE618}" presName="textRect" presStyleLbl="revTx" presStyleIdx="1" presStyleCnt="3">
        <dgm:presLayoutVars>
          <dgm:chMax val="1"/>
          <dgm:chPref val="1"/>
        </dgm:presLayoutVars>
      </dgm:prSet>
      <dgm:spPr/>
    </dgm:pt>
    <dgm:pt modelId="{F02F0D03-8C17-462E-B33E-948A022B0EA8}" type="pres">
      <dgm:prSet presAssocID="{5095772D-0CC6-4469-8FAF-F0CDC1CCA460}" presName="sibTrans" presStyleCnt="0"/>
      <dgm:spPr/>
    </dgm:pt>
    <dgm:pt modelId="{5EF8C9D5-8546-4A33-90FC-291C80A4AAB3}" type="pres">
      <dgm:prSet presAssocID="{B2EC10F7-72EC-4E03-B7C1-271B742ED58D}" presName="compNode" presStyleCnt="0"/>
      <dgm:spPr/>
    </dgm:pt>
    <dgm:pt modelId="{AC720945-16BC-4D2D-A817-7F82BA4CFA08}" type="pres">
      <dgm:prSet presAssocID="{B2EC10F7-72EC-4E03-B7C1-271B742ED58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AF2BD45-8785-4248-80CA-EDD7A408FEBA}" type="pres">
      <dgm:prSet presAssocID="{B2EC10F7-72EC-4E03-B7C1-271B742ED58D}" presName="spaceRect" presStyleCnt="0"/>
      <dgm:spPr/>
    </dgm:pt>
    <dgm:pt modelId="{880D281E-8B15-42FE-A63C-C6ACB457ED10}" type="pres">
      <dgm:prSet presAssocID="{B2EC10F7-72EC-4E03-B7C1-271B742ED58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D951E1A-E9E6-46D0-9974-0072A65EA7A4}" type="presOf" srcId="{2C05BADE-6408-423E-988F-24812AD0F81D}" destId="{B248EA2F-659D-4417-B385-17FE51301D84}" srcOrd="0" destOrd="0" presId="urn:microsoft.com/office/officeart/2018/2/layout/IconLabelList"/>
    <dgm:cxn modelId="{818B5039-91FA-4AA5-A4A5-5BC8B719E54A}" type="presOf" srcId="{B2EC10F7-72EC-4E03-B7C1-271B742ED58D}" destId="{880D281E-8B15-42FE-A63C-C6ACB457ED10}" srcOrd="0" destOrd="0" presId="urn:microsoft.com/office/officeart/2018/2/layout/IconLabelList"/>
    <dgm:cxn modelId="{785D9154-C13A-4BBA-8F47-D11839175198}" srcId="{8804567B-6B6D-430A-8083-20FD1B7DE712}" destId="{2C05BADE-6408-423E-988F-24812AD0F81D}" srcOrd="0" destOrd="0" parTransId="{5D2AF903-9A05-407C-AAEC-CDA58DC4BB2B}" sibTransId="{C0BF949B-38CF-4C9D-9895-757C39D22BFC}"/>
    <dgm:cxn modelId="{782B6156-3E89-4A68-93C8-7B2FC8D22085}" type="presOf" srcId="{16EA7067-14CE-4480-8495-34FDAF1DE618}" destId="{9124475C-744C-4F3E-982F-8EB567881E01}" srcOrd="0" destOrd="0" presId="urn:microsoft.com/office/officeart/2018/2/layout/IconLabelList"/>
    <dgm:cxn modelId="{263A9490-E871-4D77-9780-DBCA2D4A2EF5}" type="presOf" srcId="{8804567B-6B6D-430A-8083-20FD1B7DE712}" destId="{C119E5B1-5F36-47FC-92B2-F3EAC5037164}" srcOrd="0" destOrd="0" presId="urn:microsoft.com/office/officeart/2018/2/layout/IconLabelList"/>
    <dgm:cxn modelId="{63BFE1BD-D5A7-4884-9FEC-97572A25F492}" srcId="{8804567B-6B6D-430A-8083-20FD1B7DE712}" destId="{B2EC10F7-72EC-4E03-B7C1-271B742ED58D}" srcOrd="2" destOrd="0" parTransId="{4FDF59D3-D238-4B11-8091-AA7B669B1EBE}" sibTransId="{C8E6F751-20AB-4306-9A06-A8FA7BB040F7}"/>
    <dgm:cxn modelId="{B72E61D1-F1ED-4E5C-9ECF-E0D98AB99A1B}" srcId="{8804567B-6B6D-430A-8083-20FD1B7DE712}" destId="{16EA7067-14CE-4480-8495-34FDAF1DE618}" srcOrd="1" destOrd="0" parTransId="{18BEF8EA-9BE0-4214-9AE3-489DAE1973A1}" sibTransId="{5095772D-0CC6-4469-8FAF-F0CDC1CCA460}"/>
    <dgm:cxn modelId="{C0CFAF08-A691-4A5D-B9A9-45A1C27B85C1}" type="presParOf" srcId="{C119E5B1-5F36-47FC-92B2-F3EAC5037164}" destId="{DEF94C0B-76DB-4D8A-8372-88C648252028}" srcOrd="0" destOrd="0" presId="urn:microsoft.com/office/officeart/2018/2/layout/IconLabelList"/>
    <dgm:cxn modelId="{F8E89B48-46B8-4B73-8647-B86D3A1A9DEF}" type="presParOf" srcId="{DEF94C0B-76DB-4D8A-8372-88C648252028}" destId="{24F697BB-07AA-4D66-AD83-39B876D7EF7E}" srcOrd="0" destOrd="0" presId="urn:microsoft.com/office/officeart/2018/2/layout/IconLabelList"/>
    <dgm:cxn modelId="{04331B3A-ABB7-416D-8129-9C83D4CE3123}" type="presParOf" srcId="{DEF94C0B-76DB-4D8A-8372-88C648252028}" destId="{AC9C6A16-F1A8-4B31-8913-287E0D388FA3}" srcOrd="1" destOrd="0" presId="urn:microsoft.com/office/officeart/2018/2/layout/IconLabelList"/>
    <dgm:cxn modelId="{41BB72B2-09C3-4B2E-B553-0DBD1829FBA4}" type="presParOf" srcId="{DEF94C0B-76DB-4D8A-8372-88C648252028}" destId="{B248EA2F-659D-4417-B385-17FE51301D84}" srcOrd="2" destOrd="0" presId="urn:microsoft.com/office/officeart/2018/2/layout/IconLabelList"/>
    <dgm:cxn modelId="{988A14C0-6F49-4F02-B295-ED21C0D65AA2}" type="presParOf" srcId="{C119E5B1-5F36-47FC-92B2-F3EAC5037164}" destId="{3522BC5C-2BD7-4F2A-9EDC-F3CFC4994A01}" srcOrd="1" destOrd="0" presId="urn:microsoft.com/office/officeart/2018/2/layout/IconLabelList"/>
    <dgm:cxn modelId="{2D51B2E9-8DC3-4A03-BE86-84B245A1BE0C}" type="presParOf" srcId="{C119E5B1-5F36-47FC-92B2-F3EAC5037164}" destId="{93802341-E0AC-4791-A45E-63E8B5531CA1}" srcOrd="2" destOrd="0" presId="urn:microsoft.com/office/officeart/2018/2/layout/IconLabelList"/>
    <dgm:cxn modelId="{983F90A8-7A4A-4CB3-8E0C-B67BB6F29582}" type="presParOf" srcId="{93802341-E0AC-4791-A45E-63E8B5531CA1}" destId="{49E7A5F7-B274-4CDB-949B-85BAD51446AF}" srcOrd="0" destOrd="0" presId="urn:microsoft.com/office/officeart/2018/2/layout/IconLabelList"/>
    <dgm:cxn modelId="{F1832A1F-BDAC-4ECD-ACD7-14FE2337B64C}" type="presParOf" srcId="{93802341-E0AC-4791-A45E-63E8B5531CA1}" destId="{63EEFF41-F866-44A9-8424-6C44B8415A55}" srcOrd="1" destOrd="0" presId="urn:microsoft.com/office/officeart/2018/2/layout/IconLabelList"/>
    <dgm:cxn modelId="{0F568FD3-86C4-4792-BB29-48AA41F5E9A9}" type="presParOf" srcId="{93802341-E0AC-4791-A45E-63E8B5531CA1}" destId="{9124475C-744C-4F3E-982F-8EB567881E01}" srcOrd="2" destOrd="0" presId="urn:microsoft.com/office/officeart/2018/2/layout/IconLabelList"/>
    <dgm:cxn modelId="{25B3EEA9-F472-4489-AF05-72DA0B6BF932}" type="presParOf" srcId="{C119E5B1-5F36-47FC-92B2-F3EAC5037164}" destId="{F02F0D03-8C17-462E-B33E-948A022B0EA8}" srcOrd="3" destOrd="0" presId="urn:microsoft.com/office/officeart/2018/2/layout/IconLabelList"/>
    <dgm:cxn modelId="{2BC4C292-B739-4DC5-A46D-D19D29FDBAA9}" type="presParOf" srcId="{C119E5B1-5F36-47FC-92B2-F3EAC5037164}" destId="{5EF8C9D5-8546-4A33-90FC-291C80A4AAB3}" srcOrd="4" destOrd="0" presId="urn:microsoft.com/office/officeart/2018/2/layout/IconLabelList"/>
    <dgm:cxn modelId="{9FDCBE97-8A2D-4ED9-BD76-5D951DB5728A}" type="presParOf" srcId="{5EF8C9D5-8546-4A33-90FC-291C80A4AAB3}" destId="{AC720945-16BC-4D2D-A817-7F82BA4CFA08}" srcOrd="0" destOrd="0" presId="urn:microsoft.com/office/officeart/2018/2/layout/IconLabelList"/>
    <dgm:cxn modelId="{5462632A-11ED-49C2-A58C-828C765C8E4F}" type="presParOf" srcId="{5EF8C9D5-8546-4A33-90FC-291C80A4AAB3}" destId="{AAF2BD45-8785-4248-80CA-EDD7A408FEBA}" srcOrd="1" destOrd="0" presId="urn:microsoft.com/office/officeart/2018/2/layout/IconLabelList"/>
    <dgm:cxn modelId="{C4EF583F-233F-431A-AE4C-9C207D06D1F6}" type="presParOf" srcId="{5EF8C9D5-8546-4A33-90FC-291C80A4AAB3}" destId="{880D281E-8B15-42FE-A63C-C6ACB457ED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F697BB-07AA-4D66-AD83-39B876D7EF7E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8EA2F-659D-4417-B385-17FE51301D84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Speed:</a:t>
          </a:r>
          <a:r>
            <a:rPr lang="en-US" sz="1500" kern="1200"/>
            <a:t> Tasks that took hours now take seconds.</a:t>
          </a:r>
        </a:p>
      </dsp:txBody>
      <dsp:txXfrm>
        <a:off x="417971" y="2644140"/>
        <a:ext cx="2889450" cy="720000"/>
      </dsp:txXfrm>
    </dsp:sp>
    <dsp:sp modelId="{49E7A5F7-B274-4CDB-949B-85BAD51446AF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4475C-744C-4F3E-982F-8EB567881E01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Simplicity:</a:t>
          </a:r>
          <a:r>
            <a:rPr lang="en-US" sz="1500" kern="1200"/>
            <a:t> No coding required, just plain English.</a:t>
          </a:r>
        </a:p>
      </dsp:txBody>
      <dsp:txXfrm>
        <a:off x="3813075" y="2644140"/>
        <a:ext cx="2889450" cy="720000"/>
      </dsp:txXfrm>
    </dsp:sp>
    <dsp:sp modelId="{AC720945-16BC-4D2D-A817-7F82BA4CFA08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D281E-8B15-42FE-A63C-C6ACB457ED10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Power:</a:t>
          </a:r>
          <a:r>
            <a:rPr lang="en-US" sz="1500" kern="1200"/>
            <a:t> Combines the flexibility of Excel with the intelligence of AI.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3815-F6C7-AE32-95D6-5F7EFF922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433FE-96E4-B02E-D81A-C19483267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5ADD8-042B-075F-9F95-3D92BB17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9C6A-751B-E68D-118E-C043B9D9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5B97-5429-BE8C-B726-56EEDCEF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9F88-8B1F-D92A-9925-8E9F4DA9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B1C3-05D9-11F1-361F-BC56FB69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5E92F-016C-405E-C82A-BFCA09ED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CD45-B798-C528-217D-AA350381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902EE-EE80-9E15-3EE2-D6152A00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5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804D-DE3F-5583-EA27-FCF108FE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7417E-257A-9FEE-7EC2-40FDDFD6A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25B56-DA71-EB1B-AEBC-DAFE03DD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39C59-E8B0-73FD-3C20-BF1C6741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35E21-EE46-52B9-B6AF-403E29BB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C3DC-F120-9F11-F52D-79A53308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80B2-FADB-3371-BE70-4FAEE1820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14B2C-2184-A4B7-AD7D-187E49535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DF7FA-6C73-11D1-8B87-BC53C6DC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E2F2E-7517-6926-36C5-887073FB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A5EC1-8224-158B-5292-06D7C2C0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6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279E-63BB-EE0B-87A2-62494DBC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D8985-13A3-82B5-9733-8B015BFD1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AEFB4-07A2-07F1-F848-F67336D90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4F8D9-96BD-B313-92BC-7784CA6A1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1EF61-18E6-542D-1240-7CCEABF33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A9C1E-E2C7-348E-06CB-FD1D34BC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2E1226-723C-46DA-711C-31A7AE7F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7EF1D-151F-804F-AA2A-EED2D6FD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A197-D71D-AE56-5C25-068D88F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25981-6619-DD01-EC82-FC2BC15D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1CB63-6186-6504-7B74-B95153ED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030D3-F5C8-C7B0-8892-A0F48E5C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1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06D05-A900-120E-8264-E799C7F5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78715-3FB5-BD63-0A47-4007967A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C06C1-24BF-2423-0BF1-93460A06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1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D5D5-87B4-85D7-1E3A-A36C1CBD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925E-C846-17E3-BBD0-87416CE8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09F3C-375A-3BBE-55D9-14A02C20D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98FFA-9DA1-C0AC-2312-94239111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722F2-FD85-C034-C7D8-EB5CCBA1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02A3D-F9D0-9A3D-E250-72A965FB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2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0FBC-CDFE-37D6-1FA4-167700F0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68AF3-0B74-1FF1-FEBE-ACB4A6900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73301-26EC-39C4-F02D-9D1BF27CB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397B0-16FD-388F-89A3-DB16DE16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59301-807B-6B34-2B30-39EA4497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6492-1DCD-CF3A-0AFC-7832516F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2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12A2-D4EB-CA5C-C245-1F110EAF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707DA-9125-20E9-6198-1F5E771A0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602D9-1905-A9AD-AC4B-5C9F994A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8536-8A7B-07D5-478D-F6462DA4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74AB9-D253-ECA7-B0DC-71F92672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4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F8D59-2F05-4BC2-F443-78530897D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6CD29-BF02-163E-39C4-8BE147D71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28BF0-7025-8802-F3F1-28A72E31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CF15F-3469-5236-1460-CA47068D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099F4-3645-E07C-493E-3210C72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3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C3294-F566-6834-0F09-C978F76B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26D47-ED44-08D9-C240-77AE11BA4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7F305-312B-00CB-1D88-A5BE7C3FF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294A6-DFF9-4E68-A11A-29CFEEA5ADA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F088D-6884-9709-977D-7270A5F31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684E7-DB65-63B4-65EA-3ABCF82DB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6B94C-0DB1-4920-91A9-F20759F55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6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64158-0BB6-33E3-443D-5B04B793E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 err="1"/>
              <a:t>XLBooster</a:t>
            </a:r>
            <a:r>
              <a:rPr lang="en-US" sz="6600" b="1" dirty="0"/>
              <a:t>: The Future of Excel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BBD2A-16B9-1CB1-8109-EEB29FEFF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6 Intelligent Functions to Automate Your Workflow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0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3C250-40E3-351E-107F-F9B54FB3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The Power Suite: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959C-D89C-A13D-0286-FE769649A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XL_AskAI</a:t>
            </a:r>
            <a:r>
              <a:rPr lang="en-US" sz="2200"/>
              <a:t> – Your General Knowledge Assistant.</a:t>
            </a:r>
          </a:p>
          <a:p>
            <a:r>
              <a:rPr lang="en-US" sz="2200" b="1"/>
              <a:t>XL_MagicFormula</a:t>
            </a:r>
            <a:r>
              <a:rPr lang="en-US" sz="2200"/>
              <a:t> – Text-to-Formula Generator.</a:t>
            </a:r>
          </a:p>
          <a:p>
            <a:r>
              <a:rPr lang="en-US" sz="2200" b="1"/>
              <a:t>XL_Translate</a:t>
            </a:r>
            <a:r>
              <a:rPr lang="en-US" sz="2200"/>
              <a:t> – Bulk Language Translator.</a:t>
            </a:r>
          </a:p>
          <a:p>
            <a:r>
              <a:rPr lang="en-US" sz="2200" b="1"/>
              <a:t>XL_AiExtract</a:t>
            </a:r>
            <a:r>
              <a:rPr lang="en-US" sz="2200"/>
              <a:t> – Intelligent Data Extractor.</a:t>
            </a:r>
          </a:p>
          <a:p>
            <a:r>
              <a:rPr lang="en-US" sz="2200" b="1"/>
              <a:t>XL_AiTable</a:t>
            </a:r>
            <a:r>
              <a:rPr lang="en-US" sz="2200"/>
              <a:t> – Instant Data &amp; Table Generator.</a:t>
            </a:r>
          </a:p>
          <a:p>
            <a:r>
              <a:rPr lang="en-US" sz="2200" b="1"/>
              <a:t>XL_RegexAI</a:t>
            </a:r>
            <a:r>
              <a:rPr lang="en-US" sz="2200"/>
              <a:t> – Advanced Pattern Matching Wizard.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6483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5978C-C107-0735-EDE4-6EE104CA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b="1"/>
              <a:t>1. XL_AskAI: Your Intelligent Assistant</a:t>
            </a:r>
            <a:endParaRPr lang="en-US" sz="50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30A7B-C189-75C4-076F-500A70A5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Concept:</a:t>
            </a:r>
            <a:br>
              <a:rPr lang="en-US" sz="2200"/>
            </a:br>
            <a:r>
              <a:rPr lang="en-US" sz="2200"/>
              <a:t>Think of this as having a smart expert sitting inside your Excel. You can ask general questions or ask it to analyze data from your cells.</a:t>
            </a:r>
          </a:p>
          <a:p>
            <a:r>
              <a:rPr lang="en-US" sz="2200" b="1"/>
              <a:t>Why use it?</a:t>
            </a:r>
            <a:endParaRPr lang="en-US" sz="2200"/>
          </a:p>
          <a:p>
            <a:r>
              <a:rPr lang="en-US" sz="2200"/>
              <a:t>Summarize long customer feedback instantly.</a:t>
            </a:r>
          </a:p>
          <a:p>
            <a:r>
              <a:rPr lang="en-US" sz="2200"/>
              <a:t>Get explanations for complex terms.</a:t>
            </a:r>
          </a:p>
          <a:p>
            <a:r>
              <a:rPr lang="en-US" sz="2200"/>
              <a:t>Analyze trends based on selected data ranges.</a:t>
            </a:r>
          </a:p>
          <a:p>
            <a:r>
              <a:rPr lang="en-US" sz="2200" b="1"/>
              <a:t>Syntax:</a:t>
            </a:r>
            <a:br>
              <a:rPr lang="en-US" sz="2200"/>
            </a:br>
            <a:r>
              <a:rPr lang="en-US" sz="2200"/>
              <a:t>=XL_AskAI("Your Question", [Optional: Data Range])</a:t>
            </a:r>
          </a:p>
        </p:txBody>
      </p:sp>
    </p:spTree>
    <p:extLst>
      <p:ext uri="{BB962C8B-B14F-4D97-AF65-F5344CB8AC3E}">
        <p14:creationId xmlns:p14="http://schemas.microsoft.com/office/powerpoint/2010/main" val="61374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B8DF9-D30D-B164-4CFA-0CD04DA69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/>
              <a:t>2. XL_MagicFormula: Never Write Formulas Manually</a:t>
            </a: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12F0C-0C11-B574-65A7-EBD58DBF7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Concept:</a:t>
            </a:r>
            <a:br>
              <a:rPr lang="en-US" sz="2200"/>
            </a:br>
            <a:r>
              <a:rPr lang="en-US" sz="2200"/>
              <a:t>Forget complex syntax. Just describe what you want to calculate in plain English, and AI will write the Excel formula for you.</a:t>
            </a:r>
          </a:p>
          <a:p>
            <a:r>
              <a:rPr lang="en-US" sz="2200" b="1"/>
              <a:t>Why use it?</a:t>
            </a:r>
            <a:endParaRPr lang="en-US" sz="2200"/>
          </a:p>
          <a:p>
            <a:r>
              <a:rPr lang="en-US" sz="2200"/>
              <a:t>Great for beginners who don't know Excel functions.</a:t>
            </a:r>
          </a:p>
          <a:p>
            <a:r>
              <a:rPr lang="en-US" sz="2200"/>
              <a:t>Saves time on complex nested IF, INDEX-MATCH, or XLOOKUP formulas.</a:t>
            </a:r>
          </a:p>
          <a:p>
            <a:r>
              <a:rPr lang="en-US" sz="2200" b="1"/>
              <a:t>Syntax:</a:t>
            </a:r>
            <a:br>
              <a:rPr lang="en-US" sz="2200"/>
            </a:br>
            <a:r>
              <a:rPr lang="en-US" sz="2200"/>
              <a:t>=XL_MagicFormula("Describe what you want to do")</a:t>
            </a:r>
          </a:p>
        </p:txBody>
      </p:sp>
    </p:spTree>
    <p:extLst>
      <p:ext uri="{BB962C8B-B14F-4D97-AF65-F5344CB8AC3E}">
        <p14:creationId xmlns:p14="http://schemas.microsoft.com/office/powerpoint/2010/main" val="335695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DC271-B86E-6CF8-95F7-1F32C5FA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000" b="1" dirty="0"/>
              <a:t>3. </a:t>
            </a:r>
            <a:r>
              <a:rPr lang="en-US" sz="5000" b="1" dirty="0" err="1"/>
              <a:t>XL_Translate</a:t>
            </a:r>
            <a:r>
              <a:rPr lang="en-US" sz="5000" b="1" dirty="0"/>
              <a:t>: Bulk Global Translation</a:t>
            </a:r>
            <a:endParaRPr lang="en-US" sz="50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CB0F-14D0-D9F5-464F-94FCD7D04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/>
              <a:t>Concept:</a:t>
            </a:r>
            <a:br>
              <a:rPr lang="en-US" sz="2200" dirty="0"/>
            </a:br>
            <a:r>
              <a:rPr lang="en-US" sz="2200" dirty="0"/>
              <a:t>Translate single cells or entire columns into any language instantly. Unlike Google Translate, this works directly inside your grid.</a:t>
            </a:r>
          </a:p>
          <a:p>
            <a:r>
              <a:rPr lang="en-US" sz="2200" b="1" dirty="0"/>
              <a:t>Why use it?</a:t>
            </a:r>
            <a:endParaRPr lang="en-US" sz="2200" dirty="0"/>
          </a:p>
          <a:p>
            <a:r>
              <a:rPr lang="en-US" sz="2200" b="1" dirty="0"/>
              <a:t>Array Power:</a:t>
            </a:r>
            <a:r>
              <a:rPr lang="en-US" sz="2200" dirty="0"/>
              <a:t> Select 100 cells, type the formula once, and get 100 translations instantly.</a:t>
            </a:r>
          </a:p>
          <a:p>
            <a:r>
              <a:rPr lang="en-US" sz="2200" b="1" dirty="0"/>
              <a:t>Accuracy:</a:t>
            </a:r>
            <a:r>
              <a:rPr lang="en-US" sz="2200" dirty="0"/>
              <a:t> Understands context better than standard dictionaries.</a:t>
            </a:r>
          </a:p>
          <a:p>
            <a:r>
              <a:rPr lang="en-US" sz="2200" b="1" dirty="0"/>
              <a:t>Syntax:</a:t>
            </a:r>
            <a:br>
              <a:rPr lang="en-US" sz="2200" dirty="0"/>
            </a:br>
            <a:r>
              <a:rPr lang="en-US" sz="2200" dirty="0"/>
              <a:t>=</a:t>
            </a:r>
            <a:r>
              <a:rPr lang="en-US" sz="2200" dirty="0" err="1"/>
              <a:t>XL_Translate</a:t>
            </a:r>
            <a:r>
              <a:rPr lang="en-US" sz="2200" dirty="0"/>
              <a:t>(</a:t>
            </a:r>
            <a:r>
              <a:rPr lang="en-US" sz="2200" dirty="0" err="1"/>
              <a:t>Text_Range</a:t>
            </a:r>
            <a:r>
              <a:rPr lang="en-US" sz="2200" dirty="0"/>
              <a:t>, [</a:t>
            </a:r>
            <a:r>
              <a:rPr lang="en-US" sz="2200" dirty="0" err="1"/>
              <a:t>Target_Language</a:t>
            </a:r>
            <a:r>
              <a:rPr lang="en-US" sz="22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981669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E2558-F34E-A1F9-F8DC-84A14EE1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4. XL_AiExtract: The Data Cleaner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9B96-B7A0-7800-88B7-1D521EAF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Concept:</a:t>
            </a:r>
            <a:br>
              <a:rPr lang="en-US" sz="2200"/>
            </a:br>
            <a:r>
              <a:rPr lang="en-US" sz="2200"/>
              <a:t>Extract specific entities (Emails, Phones, Names) from messy, unstructured text without writing complex text functions.</a:t>
            </a:r>
          </a:p>
          <a:p>
            <a:r>
              <a:rPr lang="en-US" sz="2200" b="1"/>
              <a:t>Why use it?</a:t>
            </a:r>
            <a:endParaRPr lang="en-US" sz="2200"/>
          </a:p>
          <a:p>
            <a:r>
              <a:rPr lang="en-US" sz="2200"/>
              <a:t>No need for "Text-to-Columns" or messy MID/LEFT formulas.</a:t>
            </a:r>
          </a:p>
          <a:p>
            <a:r>
              <a:rPr lang="en-US" sz="2200"/>
              <a:t>Works on arrays – Extract data from 1000 rows at once.</a:t>
            </a:r>
          </a:p>
          <a:p>
            <a:r>
              <a:rPr lang="en-US" sz="2200" b="1"/>
              <a:t>Syntax:</a:t>
            </a:r>
            <a:br>
              <a:rPr lang="en-US" sz="2200"/>
            </a:br>
            <a:r>
              <a:rPr lang="en-US" sz="2200"/>
              <a:t>=XL_AiExtract(Range, "Type")</a:t>
            </a:r>
          </a:p>
          <a:p>
            <a:r>
              <a:rPr lang="en-US" sz="2200" b="1"/>
              <a:t>Supported Types:</a:t>
            </a:r>
            <a:br>
              <a:rPr lang="en-US" sz="2200"/>
            </a:br>
            <a:r>
              <a:rPr lang="en-US" sz="2200"/>
              <a:t>"emails", "phones", "names", "dates", "urls", "invoice_numbers"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6483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6EB9C-6C05-026E-6D94-8959C80F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b="1"/>
              <a:t>5. XL_AiTable: Instant Data Generator</a:t>
            </a:r>
            <a:endParaRPr lang="en-US" sz="50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8164-13D6-5453-4B66-87D6695F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Concept:</a:t>
            </a:r>
            <a:br>
              <a:rPr lang="en-US" sz="2200"/>
            </a:br>
            <a:r>
              <a:rPr lang="en-US" sz="2200"/>
              <a:t>Generate full structured tables with headers from scratch, or turn messy unstructured text paragraphs into clean tables.</a:t>
            </a:r>
          </a:p>
          <a:p>
            <a:r>
              <a:rPr lang="en-US" sz="2200" b="1"/>
              <a:t>Why use it?</a:t>
            </a:r>
            <a:endParaRPr lang="en-US" sz="2200"/>
          </a:p>
          <a:p>
            <a:r>
              <a:rPr lang="en-US" sz="2200" b="1"/>
              <a:t>Mock Data:</a:t>
            </a:r>
            <a:r>
              <a:rPr lang="en-US" sz="2200"/>
              <a:t> Create dummy data for testing instantly.</a:t>
            </a:r>
          </a:p>
          <a:p>
            <a:r>
              <a:rPr lang="en-US" sz="2200" b="1"/>
              <a:t>Structuring:</a:t>
            </a:r>
            <a:r>
              <a:rPr lang="en-US" sz="2200"/>
              <a:t> Convert a messy email or paragraph into a clean Excel table.</a:t>
            </a:r>
          </a:p>
          <a:p>
            <a:r>
              <a:rPr lang="en-US" sz="2200" b="1"/>
              <a:t>Research:</a:t>
            </a:r>
            <a:r>
              <a:rPr lang="en-US" sz="2200"/>
              <a:t> Compare products or companies in seconds.</a:t>
            </a:r>
          </a:p>
          <a:p>
            <a:r>
              <a:rPr lang="en-US" sz="2200" b="1"/>
              <a:t>Syntax:</a:t>
            </a:r>
            <a:br>
              <a:rPr lang="en-US" sz="2200"/>
            </a:br>
            <a:r>
              <a:rPr lang="en-US" sz="2200"/>
              <a:t>=XL_AiTable(Prompt, [Optional Headers], [Optional Source Data])</a:t>
            </a:r>
          </a:p>
        </p:txBody>
      </p:sp>
    </p:spTree>
    <p:extLst>
      <p:ext uri="{BB962C8B-B14F-4D97-AF65-F5344CB8AC3E}">
        <p14:creationId xmlns:p14="http://schemas.microsoft.com/office/powerpoint/2010/main" val="166681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8042A-F5AB-6334-E464-65642277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1"/>
              <a:t>6. XL_RegexAI: Advanced Pattern Matcher</a:t>
            </a:r>
            <a:endParaRPr lang="en-US" sz="4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57C9-84AF-36BA-AD28-1E5603BD3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Concept:</a:t>
            </a:r>
            <a:br>
              <a:rPr lang="en-US" sz="2200"/>
            </a:br>
            <a:r>
              <a:rPr lang="en-US" sz="2200"/>
              <a:t>Regular Expressions (Regex) are hard. This function lets you create them using plain English to extract very specific patterns like GSTIN, SKUs, or Custom IDs.</a:t>
            </a:r>
          </a:p>
          <a:p>
            <a:r>
              <a:rPr lang="en-US" sz="2200" b="1"/>
              <a:t>The Combo Strategy:</a:t>
            </a:r>
            <a:br>
              <a:rPr lang="en-US" sz="2200"/>
            </a:br>
            <a:r>
              <a:rPr lang="en-US" sz="2200"/>
              <a:t>Use XL_RegexAI to generate the pattern, and XL_RegexExtract to pull the data.</a:t>
            </a:r>
          </a:p>
          <a:p>
            <a:r>
              <a:rPr lang="en-US" sz="2200" b="1"/>
              <a:t>Syntax:</a:t>
            </a:r>
            <a:br>
              <a:rPr lang="en-US" sz="2200"/>
            </a:br>
            <a:r>
              <a:rPr lang="en-US" sz="2200"/>
              <a:t>=XL_RegexExtract(Cell, XL_RegexAI("Description"))</a:t>
            </a:r>
          </a:p>
        </p:txBody>
      </p:sp>
    </p:spTree>
    <p:extLst>
      <p:ext uri="{BB962C8B-B14F-4D97-AF65-F5344CB8AC3E}">
        <p14:creationId xmlns:p14="http://schemas.microsoft.com/office/powerpoint/2010/main" val="463138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101F-8BAB-4E8D-F0D5-C3185A7C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Choose </a:t>
            </a:r>
            <a:r>
              <a:rPr lang="en-US" b="1" dirty="0" err="1"/>
              <a:t>XLBooster</a:t>
            </a:r>
            <a:r>
              <a:rPr lang="en-US" b="1" dirty="0"/>
              <a:t>?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EFF1CB-1620-C9AE-3FEE-2263E2B51D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518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XLBooster: The Future of Excel</vt:lpstr>
      <vt:lpstr>The Power Suite:</vt:lpstr>
      <vt:lpstr>1. XL_AskAI: Your Intelligent Assistant</vt:lpstr>
      <vt:lpstr>2. XL_MagicFormula: Never Write Formulas Manually</vt:lpstr>
      <vt:lpstr>3. XL_Translate: Bulk Global Translation</vt:lpstr>
      <vt:lpstr>4. XL_AiExtract: The Data Cleaner</vt:lpstr>
      <vt:lpstr>5. XL_AiTable: Instant Data Generator</vt:lpstr>
      <vt:lpstr>6. XL_RegexAI: Advanced Pattern Matcher</vt:lpstr>
      <vt:lpstr>Why Choose XLBooster?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2</cp:revision>
  <dcterms:created xsi:type="dcterms:W3CDTF">2026-01-22T07:03:39Z</dcterms:created>
  <dcterms:modified xsi:type="dcterms:W3CDTF">2026-01-22T07:15:48Z</dcterms:modified>
</cp:coreProperties>
</file>