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B7C32-DCB1-E4B2-9179-8CBBF8C9F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6301C2-D0D7-0236-9392-8D88B07FFE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49503-2C30-B2E6-7924-88CE0410B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D8C23-86B4-450A-84AC-2934BE0CE73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FD682-6D62-AB51-97D1-430C2E436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46A28-2903-1DD8-5669-361CF912D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951EC-3798-47CE-A2DB-E4C9B621F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66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9E8C-128F-342F-B711-B02B262CC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ED4CD-F21B-93A2-8BA3-C47CA473F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A7960-A648-BD06-8F62-42C0147C2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D8C23-86B4-450A-84AC-2934BE0CE73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D0BD6-DD9C-BE95-4924-6591FC1E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78ED8-8CA8-DC41-4A9C-6D9CA10E5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951EC-3798-47CE-A2DB-E4C9B621F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675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02E0E-3EF8-E7F3-185F-70FBA16BB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63CE7-2ED0-F8EC-C053-7110B6040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EE06B-DFA1-0852-B0C7-F1B8BD2A5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D8C23-86B4-450A-84AC-2934BE0CE73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778A7-1AE0-4543-161D-D52DF3ECB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DE8A3-F5CE-9A9E-06D3-D64279397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951EC-3798-47CE-A2DB-E4C9B621F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75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FD66F-F1DD-ADEC-F9F2-8AF7C238F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9B096-DFBC-DB9E-F466-52D1884736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8F122-6A78-EABD-A9FD-D5D351191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E561E-E3C8-6291-F041-230D7C5CF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D8C23-86B4-450A-84AC-2934BE0CE73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CCFAB-5994-CEB9-F2EB-D8F908F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3BB87-6395-E8F3-4485-744A7A5C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951EC-3798-47CE-A2DB-E4C9B621F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28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AC1C9-642F-496D-8AE8-B536B8F27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8060B-4F35-C63E-76D1-8901A652A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1DEB2-60C2-B938-BD0E-99CE8A48C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AA9676-B8BA-0E62-2AF8-8AD5340611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6D0267-0FCA-B8ED-490A-833B5CA98E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E70E93-35FB-F645-7DA3-8D2DE7C53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D8C23-86B4-450A-84AC-2934BE0CE73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109264-11FB-5213-1765-BD35C1484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DBC024-940D-E60B-D847-834B43FAD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951EC-3798-47CE-A2DB-E4C9B621F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969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0DBD4-427B-2202-F24B-775B4465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DA5381-C0C2-5ED5-1FDE-006C9293B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D8C23-86B4-450A-84AC-2934BE0CE73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AD4CC-5702-C0BA-A1AC-9875AF4CD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46A8DB-8B98-25CE-0B53-7B055E577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951EC-3798-47CE-A2DB-E4C9B621F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063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99D4E7-07F8-B118-174F-B6FA8DDA0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D8C23-86B4-450A-84AC-2934BE0CE73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E4A5EC-1EEB-9DC1-5B73-CF9F012A1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A6849-BF84-D650-26FD-BA435F0C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951EC-3798-47CE-A2DB-E4C9B621F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07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1CDD3-44D4-52CB-DB7F-496329DE0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FDE1A-8159-304D-220E-D0E98625E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72A07D-713C-3B92-E374-99F16B64D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2964C-75BF-813B-0B45-A616C59FB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D8C23-86B4-450A-84AC-2934BE0CE73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C3AF1-FA9D-FD7D-61D1-995A1B326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2C1BE-8382-8D34-0B02-059EF2149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951EC-3798-47CE-A2DB-E4C9B621F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05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D7060-C029-53EA-D423-B35915068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C598AF-2F14-7DEA-5760-70DBB1A70D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8BD7F1-279D-660D-2832-AA475E131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8731F-F906-ED2F-AE36-9E2E48FA5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D8C23-86B4-450A-84AC-2934BE0CE73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37D21-356F-5761-AE08-300E868E7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D17E0-FF5C-95C3-BD6F-5793A18E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951EC-3798-47CE-A2DB-E4C9B621F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0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74C8F-5D2B-51ED-3017-1535BFCC3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DB9FD0-8710-3F61-60FE-224156471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21940-5BC5-938C-B32A-D691B880F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D8C23-86B4-450A-84AC-2934BE0CE73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A3B3D-0BA9-CC55-BE00-FC6F369C9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2E6C9-DCE3-6375-C22F-1C804C1B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951EC-3798-47CE-A2DB-E4C9B621F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541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73C71F-BE1B-1866-0179-70E8BFE071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043728-48D7-4216-8C26-A93844C72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5BD21-376D-6DD9-7C9D-00D24FC55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D8C23-86B4-450A-84AC-2934BE0CE73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2BD0B-20B2-8957-7BAF-C24C60F1C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5815F-695A-B789-90F0-5C6ADB2FF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951EC-3798-47CE-A2DB-E4C9B621F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919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7FF966-7FA5-D6BC-4643-F63C701CF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4ED73-37E5-5416-6CF6-0EE51D0A4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34840-F401-3159-EADD-C289826A8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2D8C23-86B4-450A-84AC-2934BE0CE73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55EDB-76F8-B681-2055-1C204F7D6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B791C-F1FA-A145-9425-CC66D7C5A8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951EC-3798-47CE-A2DB-E4C9B621F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980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812EAB-2A93-6FC1-86AD-B7C15CE42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 b="1"/>
              <a:t>Ultimate Excel Protection Tools</a:t>
            </a:r>
            <a:endParaRPr lang="en-US" sz="6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82CF3D-2049-A7C2-18A1-63671C46D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n-US"/>
              <a:t>Automate Data Security, Protect Formulas, and Secure Workbook Structure</a:t>
            </a:r>
          </a:p>
        </p:txBody>
      </p:sp>
      <p:sp>
        <p:nvSpPr>
          <p:cNvPr id="32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71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4A43AA-33C8-10D9-EBCC-992AD05E4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Why Do We Need Protection Tools?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D37B5-8C70-D648-5647-A074CC3FC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Bullet Points:</a:t>
            </a:r>
            <a:endParaRPr lang="en-US" sz="2200"/>
          </a:p>
          <a:p>
            <a:pPr lvl="1"/>
            <a:r>
              <a:rPr lang="en-US" sz="2200" b="1"/>
              <a:t>Accidental Deletion:</a:t>
            </a:r>
            <a:r>
              <a:rPr lang="en-US" sz="2200"/>
              <a:t> Users often delete complex formulas by mistake.</a:t>
            </a:r>
          </a:p>
          <a:p>
            <a:pPr lvl="1"/>
            <a:r>
              <a:rPr lang="en-US" sz="2200" b="1"/>
              <a:t>Broken Links:</a:t>
            </a:r>
            <a:r>
              <a:rPr lang="en-US" sz="2200"/>
              <a:t> Renaming or deleting sheets breaks dashboard connections.</a:t>
            </a:r>
          </a:p>
          <a:p>
            <a:pPr lvl="1"/>
            <a:r>
              <a:rPr lang="en-US" sz="2200" b="1"/>
              <a:t>Data Integrity:</a:t>
            </a:r>
            <a:r>
              <a:rPr lang="en-US" sz="2200"/>
              <a:t> Unauthorized editing of finalized reports.</a:t>
            </a:r>
          </a:p>
          <a:p>
            <a:pPr lvl="1"/>
            <a:r>
              <a:rPr lang="en-US" sz="2200" b="1"/>
              <a:t>Time Consumption:</a:t>
            </a:r>
            <a:r>
              <a:rPr lang="en-US" sz="2200"/>
              <a:t> Manually protecting 50+ sheets takes too long.</a:t>
            </a:r>
          </a:p>
          <a:p>
            <a:r>
              <a:rPr lang="en-US" sz="2200" b="1"/>
              <a:t>Key Message:</a:t>
            </a:r>
            <a:r>
              <a:rPr lang="en-US" sz="2200"/>
              <a:t> </a:t>
            </a:r>
            <a:r>
              <a:rPr lang="en-US" sz="2200" i="1"/>
              <a:t>We need a solution that secures data without stopping work.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515375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793623-D8C4-79F9-224E-134ABBBED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 Safety First: One-Click Backup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494BB-3CAF-9D1D-3422-C328A8906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Description:</a:t>
            </a:r>
            <a:r>
              <a:rPr lang="en-US" sz="2200"/>
              <a:t> Never lose data again. Before applying any protection, create a secure copy.</a:t>
            </a:r>
          </a:p>
          <a:p>
            <a:r>
              <a:rPr lang="en-US" sz="2200" b="1"/>
              <a:t>Key Features:</a:t>
            </a:r>
            <a:endParaRPr lang="en-US" sz="2200"/>
          </a:p>
          <a:p>
            <a:pPr lvl="1"/>
            <a:r>
              <a:rPr lang="en-US" sz="2200"/>
              <a:t>✅ </a:t>
            </a:r>
            <a:r>
              <a:rPr lang="en-US" sz="2200" b="1"/>
              <a:t>Auto-Timestamp:</a:t>
            </a:r>
            <a:r>
              <a:rPr lang="en-US" sz="2200"/>
              <a:t> Saves file with the current date &amp; time (e.g., Report_Backup_2023-10-15.xlsx).</a:t>
            </a:r>
          </a:p>
          <a:p>
            <a:pPr lvl="1"/>
            <a:r>
              <a:rPr lang="en-US" sz="2200"/>
              <a:t>✅ </a:t>
            </a:r>
            <a:r>
              <a:rPr lang="en-US" sz="2200" b="1"/>
              <a:t>Safe Location:</a:t>
            </a:r>
            <a:r>
              <a:rPr lang="en-US" sz="2200"/>
              <a:t> Automatically saves to your Documents folder or user selection.</a:t>
            </a:r>
          </a:p>
          <a:p>
            <a:pPr lvl="1"/>
            <a:r>
              <a:rPr lang="en-US" sz="2200"/>
              <a:t>✅ </a:t>
            </a:r>
            <a:r>
              <a:rPr lang="en-US" sz="2200" b="1"/>
              <a:t>Risk-Free:</a:t>
            </a:r>
            <a:r>
              <a:rPr lang="en-US" sz="2200"/>
              <a:t> The original working file remains untouched.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772326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151D05-1E7B-4ADB-EBB1-423064BB0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Protect All Sheets in One Click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227BD-EE74-896A-6DAD-3FA7705FB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Description:</a:t>
            </a:r>
            <a:r>
              <a:rPr lang="en-US" sz="2200"/>
              <a:t> Manage large workbooks efficiently.</a:t>
            </a:r>
          </a:p>
          <a:p>
            <a:r>
              <a:rPr lang="en-US" sz="2200" b="1"/>
              <a:t>Features:</a:t>
            </a:r>
            <a:endParaRPr lang="en-US" sz="2200"/>
          </a:p>
          <a:p>
            <a:pPr lvl="1"/>
            <a:r>
              <a:rPr lang="en-US" sz="2200" b="1"/>
              <a:t>Loop Processing:</a:t>
            </a:r>
            <a:r>
              <a:rPr lang="en-US" sz="2200"/>
              <a:t> Protects every visible sheet in the workbook instantly.</a:t>
            </a:r>
          </a:p>
          <a:p>
            <a:pPr lvl="1"/>
            <a:r>
              <a:rPr lang="en-US" sz="2200" b="1"/>
              <a:t>Single Password:</a:t>
            </a:r>
            <a:r>
              <a:rPr lang="en-US" sz="2200"/>
              <a:t> Applies the same password to all sheets.</a:t>
            </a:r>
          </a:p>
          <a:p>
            <a:pPr lvl="1"/>
            <a:r>
              <a:rPr lang="en-US" sz="2200" b="1"/>
              <a:t>Unprotect All:</a:t>
            </a:r>
            <a:r>
              <a:rPr lang="en-US" sz="2200"/>
              <a:t> Removes protection from all sheets simultaneously.</a:t>
            </a:r>
          </a:p>
          <a:p>
            <a:r>
              <a:rPr lang="en-US" sz="2200" b="1"/>
              <a:t>Efficiency:</a:t>
            </a:r>
            <a:r>
              <a:rPr lang="en-US" sz="2200"/>
              <a:t> Turns a 10-minute task into a 2-second task.</a:t>
            </a:r>
          </a:p>
        </p:txBody>
      </p:sp>
    </p:spTree>
    <p:extLst>
      <p:ext uri="{BB962C8B-B14F-4D97-AF65-F5344CB8AC3E}">
        <p14:creationId xmlns:p14="http://schemas.microsoft.com/office/powerpoint/2010/main" val="3867387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058E55-F876-3060-D498-856F3F3E2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Lock the Workbook Structure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029BD-7759-CD31-FA85-FE84E850B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Description:</a:t>
            </a:r>
            <a:r>
              <a:rPr lang="en-US" sz="2200"/>
              <a:t> Protect the "Skeleton" of your file.</a:t>
            </a:r>
          </a:p>
          <a:p>
            <a:r>
              <a:rPr lang="en-US" sz="2200" b="1"/>
              <a:t>What it Prevents:</a:t>
            </a:r>
            <a:endParaRPr lang="en-US" sz="2200"/>
          </a:p>
          <a:p>
            <a:pPr lvl="1"/>
            <a:r>
              <a:rPr lang="en-US" sz="2200"/>
              <a:t>🚫 Deleting critical sheets.</a:t>
            </a:r>
          </a:p>
          <a:p>
            <a:pPr lvl="1"/>
            <a:r>
              <a:rPr lang="en-US" sz="2200"/>
              <a:t>🚫 Renaming sheets (which breaks macros).</a:t>
            </a:r>
          </a:p>
          <a:p>
            <a:pPr lvl="1"/>
            <a:r>
              <a:rPr lang="en-US" sz="2200"/>
              <a:t>🚫 Moving or hiding sheets.</a:t>
            </a:r>
          </a:p>
          <a:p>
            <a:pPr lvl="1"/>
            <a:r>
              <a:rPr lang="en-US" sz="2200"/>
              <a:t>🚫 Adding unauthorized sheets.</a:t>
            </a:r>
          </a:p>
          <a:p>
            <a:r>
              <a:rPr lang="en-US" sz="2200" b="1"/>
              <a:t>Best For:</a:t>
            </a:r>
            <a:r>
              <a:rPr lang="en-US" sz="2200"/>
              <a:t> Dashboards, ERP Exports, and Master Databases.</a:t>
            </a:r>
          </a:p>
        </p:txBody>
      </p:sp>
    </p:spTree>
    <p:extLst>
      <p:ext uri="{BB962C8B-B14F-4D97-AF65-F5344CB8AC3E}">
        <p14:creationId xmlns:p14="http://schemas.microsoft.com/office/powerpoint/2010/main" val="1659303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6F23C1-4AEC-3EB5-D33F-89F052EBC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Protect Formulas, Allow Data Entry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BE09F-7709-84AB-AA6E-F97200508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Description:</a:t>
            </a:r>
            <a:r>
              <a:rPr lang="en-US" sz="2200"/>
              <a:t> The smartest way to lock calculations while keeping input cells open.</a:t>
            </a:r>
          </a:p>
          <a:p>
            <a:r>
              <a:rPr lang="en-US" sz="2200" b="1"/>
              <a:t>How it Works:</a:t>
            </a:r>
            <a:endParaRPr lang="en-US" sz="2200"/>
          </a:p>
          <a:p>
            <a:pPr lvl="1"/>
            <a:r>
              <a:rPr lang="en-US" sz="2200"/>
              <a:t>Scans the active sheet for </a:t>
            </a:r>
            <a:r>
              <a:rPr lang="en-US" sz="2200" b="1"/>
              <a:t>Formula Cells</a:t>
            </a:r>
            <a:r>
              <a:rPr lang="en-US" sz="2200"/>
              <a:t>.</a:t>
            </a:r>
          </a:p>
          <a:p>
            <a:pPr lvl="1"/>
            <a:r>
              <a:rPr lang="en-US" sz="2200"/>
              <a:t>Locks </a:t>
            </a:r>
            <a:r>
              <a:rPr lang="en-US" sz="2200" b="1"/>
              <a:t>only</a:t>
            </a:r>
            <a:r>
              <a:rPr lang="en-US" sz="2200"/>
              <a:t> the formulas (e.g., Tax, Total, Net Salary).</a:t>
            </a:r>
          </a:p>
          <a:p>
            <a:pPr lvl="1"/>
            <a:r>
              <a:rPr lang="en-US" sz="2200"/>
              <a:t>Keeps </a:t>
            </a:r>
            <a:r>
              <a:rPr lang="en-US" sz="2200" b="1"/>
              <a:t>Data Entry</a:t>
            </a:r>
            <a:r>
              <a:rPr lang="en-US" sz="2200"/>
              <a:t> cells unlocked (e.g., Names, Quantity, Attendance).</a:t>
            </a:r>
          </a:p>
          <a:p>
            <a:r>
              <a:rPr lang="en-US" sz="2200" b="1"/>
              <a:t>Benefit:</a:t>
            </a:r>
            <a:r>
              <a:rPr lang="en-US" sz="2200"/>
              <a:t> Prevents #REF! and #VALUE! errors caused by users.</a:t>
            </a:r>
          </a:p>
        </p:txBody>
      </p:sp>
    </p:spTree>
    <p:extLst>
      <p:ext uri="{BB962C8B-B14F-4D97-AF65-F5344CB8AC3E}">
        <p14:creationId xmlns:p14="http://schemas.microsoft.com/office/powerpoint/2010/main" val="3388737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43C6B3-E8F4-7BD3-2EDE-F029A6109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Custom Range Protection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CFDCD-1932-FF3F-710A-E36FEC984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Description:</a:t>
            </a:r>
            <a:r>
              <a:rPr lang="en-US" sz="2200"/>
              <a:t> Lock specific areas based on your selection.</a:t>
            </a:r>
          </a:p>
          <a:p>
            <a:r>
              <a:rPr lang="en-US" sz="2200" b="1"/>
              <a:t>Use Case:</a:t>
            </a:r>
            <a:endParaRPr lang="en-US" sz="2200"/>
          </a:p>
          <a:p>
            <a:pPr lvl="1"/>
            <a:r>
              <a:rPr lang="en-US" sz="2200"/>
              <a:t>Protecting </a:t>
            </a:r>
            <a:r>
              <a:rPr lang="en-US" sz="2200" b="1"/>
              <a:t>Headers</a:t>
            </a:r>
            <a:r>
              <a:rPr lang="en-US" sz="2200"/>
              <a:t> so they cannot be changed.</a:t>
            </a:r>
          </a:p>
          <a:p>
            <a:pPr lvl="1"/>
            <a:r>
              <a:rPr lang="en-US" sz="2200"/>
              <a:t>Locking </a:t>
            </a:r>
            <a:r>
              <a:rPr lang="en-US" sz="2200" b="1"/>
              <a:t>Manager Approval</a:t>
            </a:r>
            <a:r>
              <a:rPr lang="en-US" sz="2200"/>
              <a:t> columns.</a:t>
            </a:r>
          </a:p>
          <a:p>
            <a:pPr lvl="1"/>
            <a:r>
              <a:rPr lang="en-US" sz="2200"/>
              <a:t>Freezing </a:t>
            </a:r>
            <a:r>
              <a:rPr lang="en-US" sz="2200" b="1"/>
              <a:t>Historical Data</a:t>
            </a:r>
            <a:r>
              <a:rPr lang="en-US" sz="2200"/>
              <a:t> columns.</a:t>
            </a:r>
          </a:p>
          <a:p>
            <a:r>
              <a:rPr lang="en-US" sz="2200" b="1"/>
              <a:t>Action:</a:t>
            </a:r>
            <a:r>
              <a:rPr lang="en-US" sz="2200"/>
              <a:t> Simply select the cells and click "Protect Selected".</a:t>
            </a:r>
          </a:p>
        </p:txBody>
      </p:sp>
    </p:spTree>
    <p:extLst>
      <p:ext uri="{BB962C8B-B14F-4D97-AF65-F5344CB8AC3E}">
        <p14:creationId xmlns:p14="http://schemas.microsoft.com/office/powerpoint/2010/main" val="1368577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6108B-BD14-FB29-44CE-5C403C55A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Real-World Example (HR System)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2FFF7-2F7E-9A10-05AB-475C76924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Scenario:</a:t>
            </a:r>
            <a:endParaRPr lang="en-US" sz="2200"/>
          </a:p>
          <a:p>
            <a:pPr lvl="1"/>
            <a:r>
              <a:rPr lang="en-US" sz="2200" b="1"/>
              <a:t>Master Database:</a:t>
            </a:r>
            <a:r>
              <a:rPr lang="en-US" sz="2200"/>
              <a:t> Structure locked (Cannot delete employee list).</a:t>
            </a:r>
          </a:p>
          <a:p>
            <a:pPr lvl="1"/>
            <a:r>
              <a:rPr lang="en-US" sz="2200" b="1"/>
              <a:t>Salary Calculation:</a:t>
            </a:r>
            <a:r>
              <a:rPr lang="en-US" sz="2200"/>
              <a:t> Formulas locked (Tax/Net Pay), but Attendance input is open.</a:t>
            </a:r>
          </a:p>
          <a:p>
            <a:pPr lvl="1"/>
            <a:r>
              <a:rPr lang="en-US" sz="2200" b="1"/>
              <a:t>Performance Review:</a:t>
            </a:r>
            <a:r>
              <a:rPr lang="en-US" sz="2200"/>
              <a:t> Read-only mode (Protect All Sheets).</a:t>
            </a:r>
          </a:p>
          <a:p>
            <a:r>
              <a:rPr lang="en-US" sz="2200" b="1"/>
              <a:t>Result:</a:t>
            </a:r>
            <a:r>
              <a:rPr lang="en-US" sz="2200"/>
              <a:t> A fully secure, professional, and error-proof workbook.</a:t>
            </a:r>
          </a:p>
        </p:txBody>
      </p:sp>
    </p:spTree>
    <p:extLst>
      <p:ext uri="{BB962C8B-B14F-4D97-AF65-F5344CB8AC3E}">
        <p14:creationId xmlns:p14="http://schemas.microsoft.com/office/powerpoint/2010/main" val="1666037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2A87D3-0707-ECC3-DD29-85D65A581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Summary &amp; Benefits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97FC3-A6EA-C0C8-FEAA-47D392839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 dirty="0"/>
              <a:t>Bullet Points:</a:t>
            </a:r>
            <a:endParaRPr lang="en-US" sz="2200" dirty="0"/>
          </a:p>
          <a:p>
            <a:pPr lvl="1"/>
            <a:r>
              <a:rPr lang="en-US" sz="2200" dirty="0"/>
              <a:t>🛡️ </a:t>
            </a:r>
            <a:r>
              <a:rPr lang="en-US" sz="2200" b="1" dirty="0"/>
              <a:t>Security:</a:t>
            </a:r>
            <a:r>
              <a:rPr lang="en-US" sz="2200" dirty="0"/>
              <a:t> Prevents data tampering and structural damage.</a:t>
            </a:r>
          </a:p>
          <a:p>
            <a:pPr lvl="1"/>
            <a:r>
              <a:rPr lang="en-US" sz="2200" dirty="0"/>
              <a:t>⚡ </a:t>
            </a:r>
            <a:r>
              <a:rPr lang="en-US" sz="2200" b="1" dirty="0"/>
              <a:t>Speed:</a:t>
            </a:r>
            <a:r>
              <a:rPr lang="en-US" sz="2200" dirty="0"/>
              <a:t> Automates repetitive protection tasks.</a:t>
            </a:r>
          </a:p>
          <a:p>
            <a:pPr lvl="1"/>
            <a:r>
              <a:rPr lang="en-US" sz="2200" dirty="0"/>
              <a:t>🧠 </a:t>
            </a:r>
            <a:r>
              <a:rPr lang="en-US" sz="2200" b="1" dirty="0"/>
              <a:t>Intelligence:</a:t>
            </a:r>
            <a:r>
              <a:rPr lang="en-US" sz="2200" dirty="0"/>
              <a:t> Distinguishes between Formulas and Input cells.</a:t>
            </a:r>
          </a:p>
          <a:p>
            <a:pPr lvl="1"/>
            <a:r>
              <a:rPr lang="en-US" sz="2200" dirty="0"/>
              <a:t>💾 </a:t>
            </a:r>
            <a:r>
              <a:rPr lang="en-US" sz="2200" b="1" dirty="0"/>
              <a:t>Safety:</a:t>
            </a:r>
            <a:r>
              <a:rPr lang="en-US" sz="2200" dirty="0"/>
              <a:t> Integrated Backup system ensures no data loss.</a:t>
            </a:r>
          </a:p>
        </p:txBody>
      </p:sp>
    </p:spTree>
    <p:extLst>
      <p:ext uri="{BB962C8B-B14F-4D97-AF65-F5344CB8AC3E}">
        <p14:creationId xmlns:p14="http://schemas.microsoft.com/office/powerpoint/2010/main" val="2502137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498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Ultimate Excel Protection Tools</vt:lpstr>
      <vt:lpstr>Why Do We Need Protection Tools?</vt:lpstr>
      <vt:lpstr> Safety First: One-Click Backup</vt:lpstr>
      <vt:lpstr>Protect All Sheets in One Click</vt:lpstr>
      <vt:lpstr>Lock the Workbook Structure</vt:lpstr>
      <vt:lpstr>Protect Formulas, Allow Data Entry</vt:lpstr>
      <vt:lpstr>Custom Range Protection</vt:lpstr>
      <vt:lpstr>Real-World Example (HR System)</vt:lpstr>
      <vt:lpstr>Summary &amp; Benefits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Jangir</dc:creator>
  <cp:lastModifiedBy>Sachin Jangir</cp:lastModifiedBy>
  <cp:revision>1</cp:revision>
  <dcterms:created xsi:type="dcterms:W3CDTF">2026-01-24T04:27:24Z</dcterms:created>
  <dcterms:modified xsi:type="dcterms:W3CDTF">2026-01-24T04:44:11Z</dcterms:modified>
</cp:coreProperties>
</file>